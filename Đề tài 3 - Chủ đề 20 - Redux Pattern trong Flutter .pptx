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39"/>
  </p:notesMasterIdLst>
  <p:sldIdLst>
    <p:sldId id="404" r:id="rId6"/>
    <p:sldId id="257" r:id="rId7"/>
    <p:sldId id="402" r:id="rId8"/>
    <p:sldId id="526" r:id="rId9"/>
    <p:sldId id="406" r:id="rId10"/>
    <p:sldId id="543" r:id="rId11"/>
    <p:sldId id="527" r:id="rId12"/>
    <p:sldId id="407" r:id="rId13"/>
    <p:sldId id="531" r:id="rId14"/>
    <p:sldId id="532" r:id="rId15"/>
    <p:sldId id="533" r:id="rId16"/>
    <p:sldId id="534" r:id="rId17"/>
    <p:sldId id="536" r:id="rId18"/>
    <p:sldId id="544" r:id="rId19"/>
    <p:sldId id="537" r:id="rId20"/>
    <p:sldId id="535" r:id="rId21"/>
    <p:sldId id="538" r:id="rId22"/>
    <p:sldId id="528" r:id="rId23"/>
    <p:sldId id="486" r:id="rId24"/>
    <p:sldId id="539" r:id="rId25"/>
    <p:sldId id="540" r:id="rId26"/>
    <p:sldId id="529" r:id="rId27"/>
    <p:sldId id="487" r:id="rId28"/>
    <p:sldId id="541" r:id="rId29"/>
    <p:sldId id="542" r:id="rId30"/>
    <p:sldId id="545" r:id="rId31"/>
    <p:sldId id="530" r:id="rId32"/>
    <p:sldId id="488" r:id="rId33"/>
    <p:sldId id="547" r:id="rId34"/>
    <p:sldId id="548" r:id="rId35"/>
    <p:sldId id="412" r:id="rId36"/>
    <p:sldId id="479" r:id="rId37"/>
    <p:sldId id="419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83525" autoAdjust="0"/>
  </p:normalViewPr>
  <p:slideViewPr>
    <p:cSldViewPr snapToGrid="0">
      <p:cViewPr varScale="1">
        <p:scale>
          <a:sx n="70" d="100"/>
          <a:sy n="70" d="100"/>
        </p:scale>
        <p:origin x="7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33D093-51C2-4723-B64C-B6B4E17A8DCD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F3EF9-408D-4D6B-BB53-BBA657EC26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362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83A999-5E0E-42CA-8400-604AE921FF7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0835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859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51A9E-A99A-79B0-5B20-CA05EE476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E9BD19-3662-D29A-8E4E-5A56ED9A6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F487AC-4915-D2F3-4A2F-4EED79C4A0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50C49-430B-25DF-101C-4BAAE59DD2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3112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EDF9A-F2E9-2A54-4D95-111034105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2932B0-7140-9991-0052-42D84DFB7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EA321B-99C0-61FB-DFF1-4B3AB2D5B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🧩 1. </a:t>
            </a:r>
            <a:r>
              <a:rPr lang="vi-VN" b="1"/>
              <a:t>Redux là một thư viện quản lý trạng thái toàn cục, dựa trên mô hình Flux</a:t>
            </a:r>
          </a:p>
          <a:p>
            <a:r>
              <a:rPr lang="vi-VN" b="1"/>
              <a:t>Flux</a:t>
            </a:r>
            <a:r>
              <a:rPr lang="vi-VN"/>
              <a:t> là một kiến trúc do Facebook đề xuất, mô tả cách dữ liệu </a:t>
            </a:r>
            <a:r>
              <a:rPr lang="vi-VN" b="1"/>
              <a:t>chảy theo một chiều duy nhất</a:t>
            </a:r>
            <a:r>
              <a:rPr lang="vi-VN"/>
              <a:t> (one-way data flow):</a:t>
            </a:r>
            <a:br>
              <a:rPr lang="vi-VN"/>
            </a:br>
            <a:r>
              <a:rPr lang="vi-VN" b="1"/>
              <a:t>View → Action → Dispatcher → Store → View</a:t>
            </a:r>
            <a:endParaRPr lang="vi-VN"/>
          </a:p>
          <a:p>
            <a:r>
              <a:rPr lang="vi-VN" b="1"/>
              <a:t>Redux</a:t>
            </a:r>
            <a:r>
              <a:rPr lang="vi-VN"/>
              <a:t> kế thừa ý tưởng đó và </a:t>
            </a:r>
            <a:r>
              <a:rPr lang="vi-VN" b="1"/>
              <a:t>đơn giản hóa</a:t>
            </a:r>
            <a:r>
              <a:rPr lang="vi-VN"/>
              <a:t>:</a:t>
            </a:r>
          </a:p>
          <a:p>
            <a:pPr lvl="1"/>
            <a:r>
              <a:rPr lang="vi-VN"/>
              <a:t>Không còn Dispatcher,</a:t>
            </a:r>
          </a:p>
          <a:p>
            <a:pPr lvl="1"/>
            <a:r>
              <a:rPr lang="vi-VN"/>
              <a:t>Chỉ còn </a:t>
            </a:r>
            <a:r>
              <a:rPr lang="vi-VN" b="1"/>
              <a:t>Store</a:t>
            </a:r>
            <a:r>
              <a:rPr lang="vi-VN"/>
              <a:t>, </a:t>
            </a:r>
            <a:r>
              <a:rPr lang="vi-VN" b="1"/>
              <a:t>Actions</a:t>
            </a:r>
            <a:r>
              <a:rPr lang="vi-VN"/>
              <a:t>, </a:t>
            </a:r>
            <a:r>
              <a:rPr lang="vi-VN" b="1"/>
              <a:t>Reducers</a:t>
            </a:r>
            <a:r>
              <a:rPr lang="vi-VN"/>
              <a:t>.</a:t>
            </a:r>
          </a:p>
          <a:p>
            <a:r>
              <a:rPr lang="vi-VN"/>
              <a:t>Redux không phụ thuộc vào framework — bạn có thể dùng trong React, Angular, hay Flutter.</a:t>
            </a:r>
            <a:br>
              <a:rPr lang="vi-VN"/>
            </a:br>
            <a:r>
              <a:rPr lang="vi-VN"/>
              <a:t>Trong Flutter, Redux giúp </a:t>
            </a:r>
            <a:r>
              <a:rPr lang="vi-VN" b="1"/>
              <a:t>quản lý state toàn cục</a:t>
            </a:r>
            <a:r>
              <a:rPr lang="vi-VN"/>
              <a:t> — nghĩa là mọi widget có thể truy cập và cập nhật cùng một trạng thái chung.</a:t>
            </a:r>
          </a:p>
          <a:p>
            <a:r>
              <a:rPr lang="en-US"/>
              <a:t>👉 </a:t>
            </a:r>
            <a:r>
              <a:rPr lang="vi-VN" b="1"/>
              <a:t>Tóm lại:</a:t>
            </a:r>
            <a:r>
              <a:rPr lang="vi-VN"/>
              <a:t> Redux giúp bạn tránh việc truyền dữ liệu qua nhiều widget (prop drilling) và đảm bảo dữ liệu đồng bộ ở mọi nơi.</a:t>
            </a:r>
            <a:endParaRPr lang="en-US"/>
          </a:p>
          <a:p>
            <a:endParaRPr lang="vi-VN"/>
          </a:p>
          <a:p>
            <a:r>
              <a:rPr lang="en-US" b="1"/>
              <a:t>🏪 2. </a:t>
            </a:r>
            <a:r>
              <a:rPr lang="vi-VN" b="1"/>
              <a:t>Trạng thái của ứng dụng được lưu trong một Store duy nhất</a:t>
            </a:r>
          </a:p>
          <a:p>
            <a:r>
              <a:rPr lang="vi-VN"/>
              <a:t>Trong Redux, </a:t>
            </a:r>
            <a:r>
              <a:rPr lang="vi-VN" b="1"/>
              <a:t>toàn bộ dữ liệu của ứng dụng</a:t>
            </a:r>
            <a:r>
              <a:rPr lang="vi-VN"/>
              <a:t> được lưu trong </a:t>
            </a:r>
            <a:r>
              <a:rPr lang="vi-VN" b="1"/>
              <a:t>một kho dữ liệu duy nhất gọi là Store</a:t>
            </a:r>
            <a:r>
              <a:rPr lang="vi-VN"/>
              <a:t>.</a:t>
            </a:r>
            <a:br>
              <a:rPr lang="vi-VN"/>
            </a:br>
            <a:r>
              <a:rPr lang="vi-VN"/>
              <a:t>Store giống như “trái tim” của ứng dụng.</a:t>
            </a:r>
          </a:p>
          <a:p>
            <a:r>
              <a:rPr lang="vi-VN"/>
              <a:t>Store chứa:</a:t>
            </a:r>
          </a:p>
          <a:p>
            <a:pPr lvl="1"/>
            <a:r>
              <a:rPr lang="vi-VN" b="1"/>
              <a:t>State hiện tại</a:t>
            </a:r>
            <a:r>
              <a:rPr lang="vi-VN"/>
              <a:t> (AppState)</a:t>
            </a:r>
          </a:p>
          <a:p>
            <a:pPr lvl="1"/>
            <a:r>
              <a:rPr lang="vi-VN" b="1"/>
              <a:t>Reducer</a:t>
            </a:r>
            <a:r>
              <a:rPr lang="vi-VN"/>
              <a:t> (để xử lý logic khi có action)</a:t>
            </a:r>
          </a:p>
          <a:p>
            <a:pPr lvl="1"/>
            <a:r>
              <a:rPr lang="vi-VN" b="1"/>
              <a:t>Middleware</a:t>
            </a:r>
            <a:r>
              <a:rPr lang="vi-VN"/>
              <a:t> (để xử lý các tác vụ phụ như log, API…)</a:t>
            </a:r>
          </a:p>
          <a:p>
            <a:r>
              <a:rPr lang="vi-VN"/>
              <a:t>Mỗi khi state thay đổi, </a:t>
            </a:r>
            <a:r>
              <a:rPr lang="vi-VN" b="1"/>
              <a:t>Store phát tín hiệu</a:t>
            </a:r>
            <a:r>
              <a:rPr lang="vi-VN"/>
              <a:t> cho toàn bộ widget đang lắng nghe, giúp UI tự động cập nhật.</a:t>
            </a:r>
          </a:p>
          <a:p>
            <a:r>
              <a:rPr lang="en-US"/>
              <a:t>🧠 </a:t>
            </a:r>
            <a:r>
              <a:rPr lang="vi-VN"/>
              <a:t>Ví dụ trong ứng dụng của bạn:</a:t>
            </a:r>
          </a:p>
          <a:p>
            <a:pPr rtl="0"/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final store = Store&lt;AppState&gt;(</a:t>
            </a:r>
          </a:p>
          <a:p>
            <a:pPr rtl="0"/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counterReducer,</a:t>
            </a:r>
          </a:p>
          <a:p>
            <a:pPr rtl="0"/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initialState: AppState.initial(),</a:t>
            </a:r>
          </a:p>
          <a:p>
            <a:pPr rtl="0"/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middleware: [LoggingMiddleware.printer()],</a:t>
            </a:r>
          </a:p>
          <a:p>
            <a:pPr rtl="0"/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vi-VN"/>
              <a:t>→ </a:t>
            </a:r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store</a:t>
            </a:r>
            <a:r>
              <a:rPr lang="vi-VN"/>
              <a:t> lưu giá trị </a:t>
            </a:r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counter</a:t>
            </a:r>
            <a:r>
              <a:rPr lang="vi-VN"/>
              <a:t>, đồng thời chịu trách nhiệm xử lý mọi thay đổi.</a:t>
            </a:r>
          </a:p>
          <a:p>
            <a:r>
              <a:rPr lang="en-US"/>
              <a:t>👉 </a:t>
            </a:r>
            <a:r>
              <a:rPr lang="vi-VN" b="1"/>
              <a:t>Lợi ích:</a:t>
            </a:r>
            <a:r>
              <a:rPr lang="vi-VN"/>
              <a:t> chỉ có </a:t>
            </a:r>
            <a:r>
              <a:rPr lang="vi-VN" i="1"/>
              <a:t>một nguồn dữ liệu trung tâm</a:t>
            </a:r>
            <a:r>
              <a:rPr lang="vi-VN"/>
              <a:t>, dễ debug, dễ theo dõi và tránh sai lệch trạng thái giữa các phần của app.</a:t>
            </a:r>
          </a:p>
          <a:p>
            <a:endParaRPr lang="vi-VN"/>
          </a:p>
          <a:p>
            <a:r>
              <a:rPr lang="vi-VN" b="1"/>
              <a:t>⚡ 3. Các thay đổi trạng thái được thực hiện thông qua các Action</a:t>
            </a:r>
          </a:p>
          <a:p>
            <a:r>
              <a:rPr lang="vi-VN" b="1"/>
              <a:t>Action</a:t>
            </a:r>
            <a:r>
              <a:rPr lang="vi-VN"/>
              <a:t> là một đối tượng mô tả “điều gì đã xảy ra” trong ứng dụng.</a:t>
            </a:r>
            <a:br>
              <a:rPr lang="vi-VN"/>
            </a:br>
            <a:r>
              <a:rPr lang="vi-VN"/>
              <a:t>Nó </a:t>
            </a:r>
            <a:r>
              <a:rPr lang="vi-VN" b="1"/>
              <a:t>không chứa logic</a:t>
            </a:r>
            <a:r>
              <a:rPr lang="vi-VN"/>
              <a:t>, chỉ là “tín hiệu” thông báo cho store biết cần làm gì.</a:t>
            </a:r>
          </a:p>
          <a:p>
            <a:r>
              <a:rPr lang="vi-VN"/>
              <a:t>Ví dụ:</a:t>
            </a:r>
          </a:p>
          <a:p>
            <a:pPr rtl="0"/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 IncrementAction {}</a:t>
            </a:r>
          </a:p>
          <a:p>
            <a:pPr rtl="0"/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 DecrementAction {}</a:t>
            </a:r>
          </a:p>
          <a:p>
            <a:r>
              <a:rPr lang="vi-VN"/>
              <a:t>Khi người dùng nhấn nút </a:t>
            </a:r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</a:t>
            </a:r>
            <a:r>
              <a:rPr lang="vi-VN"/>
              <a:t>, Flutter gửi action:</a:t>
            </a:r>
          </a:p>
          <a:p>
            <a:pPr rtl="0"/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StoreProvider.of&lt;AppState&gt;(context).dispatch(IncrementAction());</a:t>
            </a:r>
          </a:p>
          <a:p>
            <a:r>
              <a:rPr lang="vi-VN"/>
              <a:t>→ Store nhận được action </a:t>
            </a:r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IncrementAction</a:t>
            </a:r>
            <a:r>
              <a:rPr lang="vi-VN"/>
              <a:t>, biết rằng “người dùng muốn tăng counter”.</a:t>
            </a:r>
          </a:p>
          <a:p>
            <a:r>
              <a:rPr lang="en-US"/>
              <a:t>👉 </a:t>
            </a:r>
            <a:r>
              <a:rPr lang="vi-VN" b="1"/>
              <a:t>Lợi ích:</a:t>
            </a:r>
            <a:r>
              <a:rPr lang="vi-VN"/>
              <a:t> Action giúp bạn tách biệt “mục đích” và “cách thực hiện”, giúp code dễ kiểm soát và dễ mở rộng.</a:t>
            </a:r>
          </a:p>
          <a:p>
            <a:endParaRPr lang="vi-VN"/>
          </a:p>
          <a:p>
            <a:r>
              <a:rPr lang="en-US" b="1"/>
              <a:t>🔁 4. </a:t>
            </a:r>
            <a:r>
              <a:rPr lang="vi-VN" b="1"/>
              <a:t>Các Reducer sẽ xử lý các action này để cập nhật trạng thái mới</a:t>
            </a:r>
          </a:p>
          <a:p>
            <a:r>
              <a:rPr lang="vi-VN" b="1"/>
              <a:t>Reducer</a:t>
            </a:r>
            <a:r>
              <a:rPr lang="vi-VN"/>
              <a:t> là nơi chứa </a:t>
            </a:r>
            <a:r>
              <a:rPr lang="vi-VN" i="1"/>
              <a:t>logic xử lý</a:t>
            </a:r>
            <a:r>
              <a:rPr lang="vi-VN"/>
              <a:t>.</a:t>
            </a:r>
            <a:br>
              <a:rPr lang="vi-VN"/>
            </a:br>
            <a:r>
              <a:rPr lang="vi-VN"/>
              <a:t>Nó nhận vào </a:t>
            </a:r>
            <a:r>
              <a:rPr lang="vi-VN" b="1"/>
              <a:t>state hiện tại</a:t>
            </a:r>
            <a:r>
              <a:rPr lang="vi-VN"/>
              <a:t> và </a:t>
            </a:r>
            <a:r>
              <a:rPr lang="vi-VN" b="1"/>
              <a:t>action</a:t>
            </a:r>
            <a:r>
              <a:rPr lang="vi-VN"/>
              <a:t>, rồi </a:t>
            </a:r>
            <a:r>
              <a:rPr lang="vi-VN" b="1"/>
              <a:t>trả về state mới</a:t>
            </a:r>
            <a:r>
              <a:rPr lang="vi-VN"/>
              <a:t> (không sửa trực tiếp state cũ).</a:t>
            </a:r>
          </a:p>
          <a:p>
            <a:r>
              <a:rPr lang="vi-VN"/>
              <a:t>Ví dụ:</a:t>
            </a:r>
          </a:p>
          <a:p>
            <a:pPr rtl="0"/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AppState counterReducer(AppState state, dynamic action) {</a:t>
            </a:r>
          </a:p>
          <a:p>
            <a:pPr rtl="0"/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if (action is IncrementAction) {</a:t>
            </a:r>
          </a:p>
          <a:p>
            <a:pPr rtl="0"/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return state.copyWith(counter: state.counter + 1);</a:t>
            </a:r>
          </a:p>
          <a:p>
            <a:pPr rtl="0"/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}</a:t>
            </a:r>
          </a:p>
          <a:p>
            <a:pPr rtl="0"/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return state;</a:t>
            </a:r>
          </a:p>
          <a:p>
            <a:pPr rtl="0"/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vi-VN"/>
              <a:t>→ Khi nhận </a:t>
            </a:r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IncrementAction</a:t>
            </a:r>
            <a:r>
              <a:rPr lang="vi-VN"/>
              <a:t>, reducer tạo ra </a:t>
            </a:r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AppState</a:t>
            </a:r>
            <a:r>
              <a:rPr lang="vi-VN"/>
              <a:t> mới có </a:t>
            </a:r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counter + 1</a:t>
            </a:r>
            <a:r>
              <a:rPr lang="vi-VN"/>
              <a:t>.</a:t>
            </a:r>
          </a:p>
          <a:p>
            <a:r>
              <a:rPr lang="en-US"/>
              <a:t>🧠 </a:t>
            </a:r>
            <a:r>
              <a:rPr lang="vi-VN" b="1"/>
              <a:t>Quan trọng:</a:t>
            </a:r>
            <a:br>
              <a:rPr lang="vi-VN"/>
            </a:br>
            <a:r>
              <a:rPr lang="vi-VN"/>
              <a:t>Reducer là </a:t>
            </a:r>
            <a:r>
              <a:rPr lang="vi-VN" b="1"/>
              <a:t>pure function</a:t>
            </a:r>
            <a:r>
              <a:rPr lang="vi-VN"/>
              <a:t>, tức:</a:t>
            </a:r>
          </a:p>
          <a:p>
            <a:r>
              <a:rPr lang="vi-VN"/>
              <a:t>Không thay đổi dữ liệu cũ (immutable).</a:t>
            </a:r>
          </a:p>
          <a:p>
            <a:r>
              <a:rPr lang="vi-VN"/>
              <a:t>Không có side effects (như in ra màn hình, gọi API...).</a:t>
            </a:r>
          </a:p>
          <a:p>
            <a:r>
              <a:rPr lang="en-US"/>
              <a:t>👉 </a:t>
            </a:r>
            <a:r>
              <a:rPr lang="vi-VN" b="1"/>
              <a:t>Lợi ích:</a:t>
            </a:r>
            <a:br>
              <a:rPr lang="vi-VN"/>
            </a:br>
            <a:r>
              <a:rPr lang="vi-VN"/>
              <a:t>Khi state thay đổi có thể dự đoán được — cùng một input, luôn cho ra cùng một output → giúp app dễ debug và test.</a:t>
            </a:r>
            <a:br>
              <a:rPr lang="vi-VN"/>
            </a:br>
            <a:endParaRPr lang="vi-VN"/>
          </a:p>
          <a:p>
            <a:r>
              <a:rPr lang="en-US" b="1"/>
              <a:t>🧠 5. </a:t>
            </a:r>
            <a:r>
              <a:rPr lang="vi-VN" b="1"/>
              <a:t>Giúp quản lý trạng thái một cách rõ ràng và dễ kiểm soát, đặc biệt trong các ứng dụng lớn</a:t>
            </a:r>
          </a:p>
          <a:p>
            <a:r>
              <a:rPr lang="vi-VN"/>
              <a:t>Trong các ứng dụng Flutter nhỏ, bạn có thể truyền state qua </a:t>
            </a:r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setState()</a:t>
            </a:r>
            <a:r>
              <a:rPr lang="vi-VN"/>
              <a:t> hoặc </a:t>
            </a:r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Provider</a:t>
            </a:r>
            <a:r>
              <a:rPr lang="vi-VN"/>
              <a:t>.</a:t>
            </a:r>
            <a:br>
              <a:rPr lang="vi-VN"/>
            </a:br>
            <a:r>
              <a:rPr lang="vi-VN"/>
              <a:t>Nhưng trong các ứng dụng lớn (nhiều trang, nhiều widget), việc chia sẻ dữ liệu giữa các màn hình trở nên phức tạp.</a:t>
            </a:r>
          </a:p>
          <a:p>
            <a:r>
              <a:rPr lang="vi-VN"/>
              <a:t>Redux giúp:</a:t>
            </a:r>
          </a:p>
          <a:p>
            <a:pPr lvl="1"/>
            <a:r>
              <a:rPr lang="vi-VN"/>
              <a:t>Toàn bộ state nằm ở </a:t>
            </a:r>
            <a:r>
              <a:rPr lang="vi-VN" b="1"/>
              <a:t>một nơi duy nhất</a:t>
            </a:r>
            <a:r>
              <a:rPr lang="vi-VN"/>
              <a:t> (Store).</a:t>
            </a:r>
          </a:p>
          <a:p>
            <a:pPr lvl="1"/>
            <a:r>
              <a:rPr lang="vi-VN"/>
              <a:t>Mọi thay đổi đều </a:t>
            </a:r>
            <a:r>
              <a:rPr lang="vi-VN" b="1"/>
              <a:t>có log rõ ràng</a:t>
            </a:r>
            <a:r>
              <a:rPr lang="vi-VN"/>
              <a:t> (Middleware có thể ghi lại lịch sử).</a:t>
            </a:r>
          </a:p>
          <a:p>
            <a:pPr lvl="1"/>
            <a:r>
              <a:rPr lang="vi-VN"/>
              <a:t>Dễ dàng </a:t>
            </a:r>
            <a:r>
              <a:rPr lang="vi-VN" b="1"/>
              <a:t>undo/redo</a:t>
            </a:r>
            <a:r>
              <a:rPr lang="vi-VN"/>
              <a:t> (nhờ time-travel debugging).</a:t>
            </a:r>
          </a:p>
          <a:p>
            <a:pPr lvl="1"/>
            <a:r>
              <a:rPr lang="vi-VN"/>
              <a:t>Có thể mở rộng với nhiều Middleware (API logging, async calls, error tracking...).</a:t>
            </a:r>
          </a:p>
          <a:p>
            <a:r>
              <a:rPr lang="en-US"/>
              <a:t>👉 </a:t>
            </a:r>
            <a:r>
              <a:rPr lang="vi-VN" b="1"/>
              <a:t>Tóm lại:</a:t>
            </a:r>
            <a:r>
              <a:rPr lang="vi-VN"/>
              <a:t> Redux giúp bạn nhìn thấy rõ ràng:</a:t>
            </a:r>
          </a:p>
          <a:p>
            <a:r>
              <a:rPr lang="vi-VN"/>
              <a:t>“Tại sao trạng thái thay đổi, thay đổi từ đâu, và thay đổi như thế nào.”</a:t>
            </a:r>
            <a:br>
              <a:rPr lang="vi-VN"/>
            </a:br>
            <a:endParaRPr lang="vi-VN"/>
          </a:p>
          <a:p>
            <a:r>
              <a:rPr lang="en-US" b="1"/>
              <a:t>📈 </a:t>
            </a:r>
            <a:r>
              <a:rPr lang="vi-VN" b="1"/>
              <a:t>Tóm tắt mô hình Redux trong 1 dòng:</a:t>
            </a:r>
          </a:p>
          <a:p>
            <a:r>
              <a:rPr lang="vi-VN" b="1"/>
              <a:t>UI (View)</a:t>
            </a:r>
            <a:r>
              <a:rPr lang="vi-VN"/>
              <a:t> → gửi </a:t>
            </a:r>
            <a:r>
              <a:rPr lang="vi-VN" b="1"/>
              <a:t>Action</a:t>
            </a:r>
            <a:r>
              <a:rPr lang="vi-VN"/>
              <a:t> → qua </a:t>
            </a:r>
            <a:r>
              <a:rPr lang="vi-VN" b="1"/>
              <a:t>Reducer</a:t>
            </a:r>
            <a:r>
              <a:rPr lang="vi-VN"/>
              <a:t> → cập nhật </a:t>
            </a:r>
            <a:r>
              <a:rPr lang="vi-VN" b="1"/>
              <a:t>Store (State)</a:t>
            </a:r>
            <a:r>
              <a:rPr lang="vi-VN"/>
              <a:t> → UI được vẽ lại theo state mới.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EFAFD-7A44-3699-3C35-55C61859D9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7556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6C13D-90A9-15F1-FA58-93E844010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A2CEB9-61E3-499E-2D79-4AD2F56998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E1B054-9253-271F-6794-0108E8C718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🧩 1. </a:t>
            </a:r>
            <a:r>
              <a:rPr lang="vi-VN" b="1"/>
              <a:t>Redux là một thư viện quản lý trạng thái toàn cục, dựa trên mô hình Flux</a:t>
            </a:r>
          </a:p>
          <a:p>
            <a:r>
              <a:rPr lang="vi-VN" b="1"/>
              <a:t>Flux</a:t>
            </a:r>
            <a:r>
              <a:rPr lang="vi-VN"/>
              <a:t> là một kiến trúc do Facebook đề xuất, mô tả cách dữ liệu </a:t>
            </a:r>
            <a:r>
              <a:rPr lang="vi-VN" b="1"/>
              <a:t>chảy theo một chiều duy nhất</a:t>
            </a:r>
            <a:r>
              <a:rPr lang="vi-VN"/>
              <a:t> (one-way data flow):</a:t>
            </a:r>
            <a:br>
              <a:rPr lang="vi-VN"/>
            </a:br>
            <a:r>
              <a:rPr lang="vi-VN" b="1"/>
              <a:t>View → Action → Dispatcher → Store → View</a:t>
            </a:r>
            <a:endParaRPr lang="vi-VN"/>
          </a:p>
          <a:p>
            <a:r>
              <a:rPr lang="vi-VN" b="1"/>
              <a:t>Redux</a:t>
            </a:r>
            <a:r>
              <a:rPr lang="vi-VN"/>
              <a:t> kế thừa ý tưởng đó và </a:t>
            </a:r>
            <a:r>
              <a:rPr lang="vi-VN" b="1"/>
              <a:t>đơn giản hóa</a:t>
            </a:r>
            <a:r>
              <a:rPr lang="vi-VN"/>
              <a:t>:</a:t>
            </a:r>
          </a:p>
          <a:p>
            <a:pPr lvl="1"/>
            <a:r>
              <a:rPr lang="vi-VN"/>
              <a:t>Không còn Dispatcher,</a:t>
            </a:r>
          </a:p>
          <a:p>
            <a:pPr lvl="1"/>
            <a:r>
              <a:rPr lang="vi-VN"/>
              <a:t>Chỉ còn </a:t>
            </a:r>
            <a:r>
              <a:rPr lang="vi-VN" b="1"/>
              <a:t>Store</a:t>
            </a:r>
            <a:r>
              <a:rPr lang="vi-VN"/>
              <a:t>, </a:t>
            </a:r>
            <a:r>
              <a:rPr lang="vi-VN" b="1"/>
              <a:t>Actions</a:t>
            </a:r>
            <a:r>
              <a:rPr lang="vi-VN"/>
              <a:t>, </a:t>
            </a:r>
            <a:r>
              <a:rPr lang="vi-VN" b="1"/>
              <a:t>Reducers</a:t>
            </a:r>
            <a:r>
              <a:rPr lang="vi-VN"/>
              <a:t>.</a:t>
            </a:r>
          </a:p>
          <a:p>
            <a:r>
              <a:rPr lang="vi-VN"/>
              <a:t>Redux không phụ thuộc vào framework — bạn có thể dùng trong React, Angular, hay Flutter.</a:t>
            </a:r>
            <a:br>
              <a:rPr lang="vi-VN"/>
            </a:br>
            <a:r>
              <a:rPr lang="vi-VN"/>
              <a:t>Trong Flutter, Redux giúp </a:t>
            </a:r>
            <a:r>
              <a:rPr lang="vi-VN" b="1"/>
              <a:t>quản lý state toàn cục</a:t>
            </a:r>
            <a:r>
              <a:rPr lang="vi-VN"/>
              <a:t> — nghĩa là mọi widget có thể truy cập và cập nhật cùng một trạng thái chung.</a:t>
            </a:r>
          </a:p>
          <a:p>
            <a:r>
              <a:rPr lang="en-US"/>
              <a:t>👉 </a:t>
            </a:r>
            <a:r>
              <a:rPr lang="vi-VN" b="1"/>
              <a:t>Tóm lại:</a:t>
            </a:r>
            <a:r>
              <a:rPr lang="vi-VN"/>
              <a:t> Redux giúp bạn tránh việc truyền dữ liệu qua nhiều widget (prop drilling) và đảm bảo dữ liệu đồng bộ ở mọi nơi.</a:t>
            </a:r>
            <a:endParaRPr lang="en-US"/>
          </a:p>
          <a:p>
            <a:endParaRPr lang="vi-VN"/>
          </a:p>
          <a:p>
            <a:r>
              <a:rPr lang="en-US" b="1"/>
              <a:t>🏪 2. </a:t>
            </a:r>
            <a:r>
              <a:rPr lang="vi-VN" b="1"/>
              <a:t>Trạng thái của ứng dụng được lưu trong một Store duy nhất</a:t>
            </a:r>
          </a:p>
          <a:p>
            <a:r>
              <a:rPr lang="vi-VN"/>
              <a:t>Trong Redux, </a:t>
            </a:r>
            <a:r>
              <a:rPr lang="vi-VN" b="1"/>
              <a:t>toàn bộ dữ liệu của ứng dụng</a:t>
            </a:r>
            <a:r>
              <a:rPr lang="vi-VN"/>
              <a:t> được lưu trong </a:t>
            </a:r>
            <a:r>
              <a:rPr lang="vi-VN" b="1"/>
              <a:t>một kho dữ liệu duy nhất gọi là Store</a:t>
            </a:r>
            <a:r>
              <a:rPr lang="vi-VN"/>
              <a:t>.</a:t>
            </a:r>
            <a:br>
              <a:rPr lang="vi-VN"/>
            </a:br>
            <a:r>
              <a:rPr lang="vi-VN"/>
              <a:t>Store giống như “trái tim” của ứng dụng.</a:t>
            </a:r>
          </a:p>
          <a:p>
            <a:r>
              <a:rPr lang="vi-VN"/>
              <a:t>Store chứa:</a:t>
            </a:r>
          </a:p>
          <a:p>
            <a:pPr lvl="1"/>
            <a:r>
              <a:rPr lang="vi-VN" b="1"/>
              <a:t>State hiện tại</a:t>
            </a:r>
            <a:r>
              <a:rPr lang="vi-VN"/>
              <a:t> (AppState)</a:t>
            </a:r>
          </a:p>
          <a:p>
            <a:pPr lvl="1"/>
            <a:r>
              <a:rPr lang="vi-VN" b="1"/>
              <a:t>Reducer</a:t>
            </a:r>
            <a:r>
              <a:rPr lang="vi-VN"/>
              <a:t> (để xử lý logic khi có action)</a:t>
            </a:r>
          </a:p>
          <a:p>
            <a:pPr lvl="1"/>
            <a:r>
              <a:rPr lang="vi-VN" b="1"/>
              <a:t>Middleware</a:t>
            </a:r>
            <a:r>
              <a:rPr lang="vi-VN"/>
              <a:t> (để xử lý các tác vụ phụ như log, API…)</a:t>
            </a:r>
          </a:p>
          <a:p>
            <a:r>
              <a:rPr lang="vi-VN"/>
              <a:t>Mỗi khi state thay đổi, </a:t>
            </a:r>
            <a:r>
              <a:rPr lang="vi-VN" b="1"/>
              <a:t>Store phát tín hiệu</a:t>
            </a:r>
            <a:r>
              <a:rPr lang="vi-VN"/>
              <a:t> cho toàn bộ widget đang lắng nghe, giúp UI tự động cập nhật.</a:t>
            </a:r>
          </a:p>
          <a:p>
            <a:r>
              <a:rPr lang="en-US"/>
              <a:t>🧠 </a:t>
            </a:r>
            <a:r>
              <a:rPr lang="vi-VN"/>
              <a:t>Ví dụ trong ứng dụng của bạn:</a:t>
            </a:r>
          </a:p>
          <a:p>
            <a:pPr rtl="0"/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final store = Store&lt;AppState&gt;(</a:t>
            </a:r>
          </a:p>
          <a:p>
            <a:pPr rtl="0"/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counterReducer,</a:t>
            </a:r>
          </a:p>
          <a:p>
            <a:pPr rtl="0"/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initialState: AppState.initial(),</a:t>
            </a:r>
          </a:p>
          <a:p>
            <a:pPr rtl="0"/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middleware: [LoggingMiddleware.printer()],</a:t>
            </a:r>
          </a:p>
          <a:p>
            <a:pPr rtl="0"/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);</a:t>
            </a:r>
          </a:p>
          <a:p>
            <a:r>
              <a:rPr lang="vi-VN"/>
              <a:t>→ </a:t>
            </a:r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store</a:t>
            </a:r>
            <a:r>
              <a:rPr lang="vi-VN"/>
              <a:t> lưu giá trị </a:t>
            </a:r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counter</a:t>
            </a:r>
            <a:r>
              <a:rPr lang="vi-VN"/>
              <a:t>, đồng thời chịu trách nhiệm xử lý mọi thay đổi.</a:t>
            </a:r>
          </a:p>
          <a:p>
            <a:r>
              <a:rPr lang="en-US"/>
              <a:t>👉 </a:t>
            </a:r>
            <a:r>
              <a:rPr lang="vi-VN" b="1"/>
              <a:t>Lợi ích:</a:t>
            </a:r>
            <a:r>
              <a:rPr lang="vi-VN"/>
              <a:t> chỉ có </a:t>
            </a:r>
            <a:r>
              <a:rPr lang="vi-VN" i="1"/>
              <a:t>một nguồn dữ liệu trung tâm</a:t>
            </a:r>
            <a:r>
              <a:rPr lang="vi-VN"/>
              <a:t>, dễ debug, dễ theo dõi và tránh sai lệch trạng thái giữa các phần của app.</a:t>
            </a:r>
          </a:p>
          <a:p>
            <a:endParaRPr lang="vi-VN"/>
          </a:p>
          <a:p>
            <a:r>
              <a:rPr lang="vi-VN" b="1"/>
              <a:t>⚡ 3. Các thay đổi trạng thái được thực hiện thông qua các Action</a:t>
            </a:r>
          </a:p>
          <a:p>
            <a:r>
              <a:rPr lang="vi-VN" b="1"/>
              <a:t>Action</a:t>
            </a:r>
            <a:r>
              <a:rPr lang="vi-VN"/>
              <a:t> là một đối tượng mô tả “điều gì đã xảy ra” trong ứng dụng.</a:t>
            </a:r>
            <a:br>
              <a:rPr lang="vi-VN"/>
            </a:br>
            <a:r>
              <a:rPr lang="vi-VN"/>
              <a:t>Nó </a:t>
            </a:r>
            <a:r>
              <a:rPr lang="vi-VN" b="1"/>
              <a:t>không chứa logic</a:t>
            </a:r>
            <a:r>
              <a:rPr lang="vi-VN"/>
              <a:t>, chỉ là “tín hiệu” thông báo cho store biết cần làm gì.</a:t>
            </a:r>
          </a:p>
          <a:p>
            <a:r>
              <a:rPr lang="vi-VN"/>
              <a:t>Ví dụ:</a:t>
            </a:r>
          </a:p>
          <a:p>
            <a:pPr rtl="0"/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 IncrementAction {}</a:t>
            </a:r>
          </a:p>
          <a:p>
            <a:pPr rtl="0"/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 DecrementAction {}</a:t>
            </a:r>
          </a:p>
          <a:p>
            <a:r>
              <a:rPr lang="vi-VN"/>
              <a:t>Khi người dùng nhấn nút </a:t>
            </a:r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</a:t>
            </a:r>
            <a:r>
              <a:rPr lang="vi-VN"/>
              <a:t>, Flutter gửi action:</a:t>
            </a:r>
          </a:p>
          <a:p>
            <a:pPr rtl="0"/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StoreProvider.of&lt;AppState&gt;(context).dispatch(IncrementAction());</a:t>
            </a:r>
          </a:p>
          <a:p>
            <a:r>
              <a:rPr lang="vi-VN"/>
              <a:t>→ Store nhận được action </a:t>
            </a:r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IncrementAction</a:t>
            </a:r>
            <a:r>
              <a:rPr lang="vi-VN"/>
              <a:t>, biết rằng “người dùng muốn tăng counter”.</a:t>
            </a:r>
          </a:p>
          <a:p>
            <a:r>
              <a:rPr lang="en-US"/>
              <a:t>👉 </a:t>
            </a:r>
            <a:r>
              <a:rPr lang="vi-VN" b="1"/>
              <a:t>Lợi ích:</a:t>
            </a:r>
            <a:r>
              <a:rPr lang="vi-VN"/>
              <a:t> Action giúp bạn tách biệt “mục đích” và “cách thực hiện”, giúp code dễ kiểm soát và dễ mở rộng.</a:t>
            </a:r>
          </a:p>
          <a:p>
            <a:endParaRPr lang="vi-VN"/>
          </a:p>
          <a:p>
            <a:r>
              <a:rPr lang="en-US" b="1"/>
              <a:t>🔁 4. </a:t>
            </a:r>
            <a:r>
              <a:rPr lang="vi-VN" b="1"/>
              <a:t>Các Reducer sẽ xử lý các action này để cập nhật trạng thái mới</a:t>
            </a:r>
          </a:p>
          <a:p>
            <a:r>
              <a:rPr lang="vi-VN" b="1"/>
              <a:t>Reducer</a:t>
            </a:r>
            <a:r>
              <a:rPr lang="vi-VN"/>
              <a:t> là nơi chứa </a:t>
            </a:r>
            <a:r>
              <a:rPr lang="vi-VN" i="1"/>
              <a:t>logic xử lý</a:t>
            </a:r>
            <a:r>
              <a:rPr lang="vi-VN"/>
              <a:t>.</a:t>
            </a:r>
            <a:br>
              <a:rPr lang="vi-VN"/>
            </a:br>
            <a:r>
              <a:rPr lang="vi-VN"/>
              <a:t>Nó nhận vào </a:t>
            </a:r>
            <a:r>
              <a:rPr lang="vi-VN" b="1"/>
              <a:t>state hiện tại</a:t>
            </a:r>
            <a:r>
              <a:rPr lang="vi-VN"/>
              <a:t> và </a:t>
            </a:r>
            <a:r>
              <a:rPr lang="vi-VN" b="1"/>
              <a:t>action</a:t>
            </a:r>
            <a:r>
              <a:rPr lang="vi-VN"/>
              <a:t>, rồi </a:t>
            </a:r>
            <a:r>
              <a:rPr lang="vi-VN" b="1"/>
              <a:t>trả về state mới</a:t>
            </a:r>
            <a:r>
              <a:rPr lang="vi-VN"/>
              <a:t> (không sửa trực tiếp state cũ).</a:t>
            </a:r>
          </a:p>
          <a:p>
            <a:r>
              <a:rPr lang="vi-VN"/>
              <a:t>Ví dụ:</a:t>
            </a:r>
          </a:p>
          <a:p>
            <a:pPr rtl="0"/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AppState counterReducer(AppState state, dynamic action) {</a:t>
            </a:r>
          </a:p>
          <a:p>
            <a:pPr rtl="0"/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if (action is IncrementAction) {</a:t>
            </a:r>
          </a:p>
          <a:p>
            <a:pPr rtl="0"/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return state.copyWith(counter: state.counter + 1);</a:t>
            </a:r>
          </a:p>
          <a:p>
            <a:pPr rtl="0"/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}</a:t>
            </a:r>
          </a:p>
          <a:p>
            <a:pPr rtl="0"/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return state;</a:t>
            </a:r>
          </a:p>
          <a:p>
            <a:pPr rtl="0"/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r>
              <a:rPr lang="vi-VN"/>
              <a:t>→ Khi nhận </a:t>
            </a:r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IncrementAction</a:t>
            </a:r>
            <a:r>
              <a:rPr lang="vi-VN"/>
              <a:t>, reducer tạo ra </a:t>
            </a:r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AppState</a:t>
            </a:r>
            <a:r>
              <a:rPr lang="vi-VN"/>
              <a:t> mới có </a:t>
            </a:r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counter + 1</a:t>
            </a:r>
            <a:r>
              <a:rPr lang="vi-VN"/>
              <a:t>.</a:t>
            </a:r>
          </a:p>
          <a:p>
            <a:r>
              <a:rPr lang="en-US"/>
              <a:t>🧠 </a:t>
            </a:r>
            <a:r>
              <a:rPr lang="vi-VN" b="1"/>
              <a:t>Quan trọng:</a:t>
            </a:r>
            <a:br>
              <a:rPr lang="vi-VN"/>
            </a:br>
            <a:r>
              <a:rPr lang="vi-VN"/>
              <a:t>Reducer là </a:t>
            </a:r>
            <a:r>
              <a:rPr lang="vi-VN" b="1"/>
              <a:t>pure function</a:t>
            </a:r>
            <a:r>
              <a:rPr lang="vi-VN"/>
              <a:t>, tức:</a:t>
            </a:r>
          </a:p>
          <a:p>
            <a:r>
              <a:rPr lang="vi-VN"/>
              <a:t>Không thay đổi dữ liệu cũ (immutable).</a:t>
            </a:r>
          </a:p>
          <a:p>
            <a:r>
              <a:rPr lang="vi-VN"/>
              <a:t>Không có side effects (như in ra màn hình, gọi API...).</a:t>
            </a:r>
          </a:p>
          <a:p>
            <a:r>
              <a:rPr lang="en-US"/>
              <a:t>👉 </a:t>
            </a:r>
            <a:r>
              <a:rPr lang="vi-VN" b="1"/>
              <a:t>Lợi ích:</a:t>
            </a:r>
            <a:br>
              <a:rPr lang="vi-VN"/>
            </a:br>
            <a:r>
              <a:rPr lang="vi-VN"/>
              <a:t>Khi state thay đổi có thể dự đoán được — cùng một input, luôn cho ra cùng một output → giúp app dễ debug và test.</a:t>
            </a:r>
            <a:br>
              <a:rPr lang="vi-VN"/>
            </a:br>
            <a:endParaRPr lang="vi-VN"/>
          </a:p>
          <a:p>
            <a:r>
              <a:rPr lang="en-US" b="1"/>
              <a:t>🧠 5. </a:t>
            </a:r>
            <a:r>
              <a:rPr lang="vi-VN" b="1"/>
              <a:t>Giúp quản lý trạng thái một cách rõ ràng và dễ kiểm soát, đặc biệt trong các ứng dụng lớn</a:t>
            </a:r>
          </a:p>
          <a:p>
            <a:r>
              <a:rPr lang="vi-VN"/>
              <a:t>Trong các ứng dụng Flutter nhỏ, bạn có thể truyền state qua </a:t>
            </a:r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setState()</a:t>
            </a:r>
            <a:r>
              <a:rPr lang="vi-VN"/>
              <a:t> hoặc </a:t>
            </a:r>
            <a:r>
              <a:rPr lang="vi-VN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Provider</a:t>
            </a:r>
            <a:r>
              <a:rPr lang="vi-VN"/>
              <a:t>.</a:t>
            </a:r>
            <a:br>
              <a:rPr lang="vi-VN"/>
            </a:br>
            <a:r>
              <a:rPr lang="vi-VN"/>
              <a:t>Nhưng trong các ứng dụng lớn (nhiều trang, nhiều widget), việc chia sẻ dữ liệu giữa các màn hình trở nên phức tạp.</a:t>
            </a:r>
          </a:p>
          <a:p>
            <a:r>
              <a:rPr lang="vi-VN"/>
              <a:t>Redux giúp:</a:t>
            </a:r>
          </a:p>
          <a:p>
            <a:pPr lvl="1"/>
            <a:r>
              <a:rPr lang="vi-VN"/>
              <a:t>Toàn bộ state nằm ở </a:t>
            </a:r>
            <a:r>
              <a:rPr lang="vi-VN" b="1"/>
              <a:t>một nơi duy nhất</a:t>
            </a:r>
            <a:r>
              <a:rPr lang="vi-VN"/>
              <a:t> (Store).</a:t>
            </a:r>
          </a:p>
          <a:p>
            <a:pPr lvl="1"/>
            <a:r>
              <a:rPr lang="vi-VN"/>
              <a:t>Mọi thay đổi đều </a:t>
            </a:r>
            <a:r>
              <a:rPr lang="vi-VN" b="1"/>
              <a:t>có log rõ ràng</a:t>
            </a:r>
            <a:r>
              <a:rPr lang="vi-VN"/>
              <a:t> (Middleware có thể ghi lại lịch sử).</a:t>
            </a:r>
          </a:p>
          <a:p>
            <a:pPr lvl="1"/>
            <a:r>
              <a:rPr lang="vi-VN"/>
              <a:t>Dễ dàng </a:t>
            </a:r>
            <a:r>
              <a:rPr lang="vi-VN" b="1"/>
              <a:t>undo/redo</a:t>
            </a:r>
            <a:r>
              <a:rPr lang="vi-VN"/>
              <a:t> (nhờ time-travel debugging).</a:t>
            </a:r>
          </a:p>
          <a:p>
            <a:pPr lvl="1"/>
            <a:r>
              <a:rPr lang="vi-VN"/>
              <a:t>Có thể mở rộng với nhiều Middleware (API logging, async calls, error tracking...).</a:t>
            </a:r>
          </a:p>
          <a:p>
            <a:r>
              <a:rPr lang="en-US"/>
              <a:t>👉 </a:t>
            </a:r>
            <a:r>
              <a:rPr lang="vi-VN" b="1"/>
              <a:t>Tóm lại:</a:t>
            </a:r>
            <a:r>
              <a:rPr lang="vi-VN"/>
              <a:t> Redux giúp bạn nhìn thấy rõ ràng:</a:t>
            </a:r>
          </a:p>
          <a:p>
            <a:r>
              <a:rPr lang="vi-VN"/>
              <a:t>“Tại sao trạng thái thay đổi, thay đổi từ đâu, và thay đổi như thế nào.”</a:t>
            </a:r>
            <a:br>
              <a:rPr lang="vi-VN"/>
            </a:br>
            <a:endParaRPr lang="vi-VN"/>
          </a:p>
          <a:p>
            <a:r>
              <a:rPr lang="en-US" b="1"/>
              <a:t>📈 </a:t>
            </a:r>
            <a:r>
              <a:rPr lang="vi-VN" b="1"/>
              <a:t>Tóm tắt mô hình Redux trong 1 dòng:</a:t>
            </a:r>
          </a:p>
          <a:p>
            <a:r>
              <a:rPr lang="vi-VN" b="1"/>
              <a:t>UI (View)</a:t>
            </a:r>
            <a:r>
              <a:rPr lang="vi-VN"/>
              <a:t> → gửi </a:t>
            </a:r>
            <a:r>
              <a:rPr lang="vi-VN" b="1"/>
              <a:t>Action</a:t>
            </a:r>
            <a:r>
              <a:rPr lang="vi-VN"/>
              <a:t> → qua </a:t>
            </a:r>
            <a:r>
              <a:rPr lang="vi-VN" b="1"/>
              <a:t>Reducer</a:t>
            </a:r>
            <a:r>
              <a:rPr lang="vi-VN"/>
              <a:t> → cập nhật </a:t>
            </a:r>
            <a:r>
              <a:rPr lang="vi-VN" b="1"/>
              <a:t>Store (State)</a:t>
            </a:r>
            <a:r>
              <a:rPr lang="vi-VN"/>
              <a:t> → UI được vẽ lại theo state mới.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E995E4-D791-5782-F1B7-BA28513FD2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6362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430BB-E353-F97C-BE17-78A8AB2C2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D0FFB4-5D37-F7E7-8250-D78A628309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1454DB-AD98-19F8-BF6D-BA6388A58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DDD5E-12B7-61DE-79CB-2C69365244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3233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E4105-305B-1ED5-5DC3-40C22E985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113A2B-A169-D533-4E6F-244A88BC67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C46233-12AD-ED74-0863-71682473CC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193009-C9DB-43FF-D465-14E7642AAA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6842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548D0-0891-F718-E3A2-EE858A229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57AA1C-E406-2818-4320-5C863A1128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C9FDD5-82BB-D872-B56D-198DA34E17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3697DA-2822-A6C7-FD60-CD413E64FC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3789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BF4A4-C5C5-0B83-192F-FA0E5CA60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B9482B-201D-469D-3991-C626CAADC2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1798CC-693D-79E6-6640-33A8BA9286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BAAAF-461C-F570-DFF3-F037E22024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116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BD1E7-A303-FA79-2C1D-AE7A58D42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9C754C-382E-D875-3A18-3F343D4BE0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7F9CFF-725F-2752-F984-7B8F3508A0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C327F-75D7-EC8C-3B37-DC8C5D1D42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6906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B6C83-EBC0-9DDA-2EEE-055264FB7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A4E932-3026-CAAF-C9C4-9982F4885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1B692F-45B7-E697-F925-FDF6848899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86E21-ED49-5CB6-F406-9F8FF0AA3A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2605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D107E-920C-27EA-047E-CB5E65B18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684F91-9BF1-13F8-7A37-2F993E91D7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FA25C9-2D1C-DD64-6AAB-7C569CC5F4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929B06-FEBA-D00E-B942-825FED6F70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2579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BC911-9533-7032-3C94-C5F98D6DF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CCEC28-6879-1346-9297-906FE15FA3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B56EA9-B841-01E2-9D54-B3C12737C0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414B9A-4B36-2C09-80AE-1C55A58EE3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3890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4E9CB-CFC0-3774-49EB-8146D87EE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539F51-D1D2-5100-87A9-60A6F3200D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613DC3-4BF3-93D7-A4CE-3FD457B0C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374FC-A30F-DC1D-A508-633E545ABB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201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0180E-8DE9-7F23-2926-97087F206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A0252E-9C56-6E82-E7E3-67DBE09BAD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B1A0E8-7053-A839-D7D0-963666CE4E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0BDE9-6CD5-78CB-3D3C-E3D7AB9965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4016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41840-EF90-4E18-F2DE-5E54E8B3A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55CC58-08D2-61B4-8436-2EED59B714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AA8EFA-F099-9473-D07C-3A33C9C80C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04C30-7D08-32F6-EBDE-99911E146C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08596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C38FE-506D-1B46-3C9A-D5594D4BC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B696EA-9580-F9DB-5745-3106111F25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CAF51A-3B36-090B-F093-ED81D874F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50020-D7B8-62FF-E336-7A1410BF40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7328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EEE1B-7C1F-482D-D03D-EF980C3D7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B0C090-C053-108D-92CC-1B52D25EAF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DA8490-9BF4-12E9-9CF4-F3742DAA14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4DE1E-EECC-1881-1B4F-7CB3C72AE5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2991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0FFFA-A4E3-5486-F96E-239B5DC63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4243A9-C5E0-1692-8A25-D4D9D9196B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459A30-BC82-C5C0-6CBB-1D9FBD21A0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47C63E-7F44-F84F-DAD7-62EAB45325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1996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844B0-59EB-90D2-696C-0B346F2A8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5C2CEF-8D06-F03B-A259-266866E48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3E7310-1382-36A7-B741-CC3F6CE8A8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F80E7-BB41-241F-0C70-86CEF4ADA6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5575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E33D9-DE73-AE9E-B447-A4C020C23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86D49B-18A8-C7DA-1D12-099AF85AE3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6AAA00-01AB-24E2-A8C2-5ABD1B7CA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4D10B-B13A-0B40-CD0D-78CDF3F8E2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5131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0C55C-5969-59AF-6CEC-673486625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E7F8A3-FCB6-C4DE-73EB-B566020099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9A6D10-39B7-D459-8C11-0A2F80C0C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E6A84-1406-CAA1-77F8-1F2BB89803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9238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9FFAD-CD0D-0362-EDBA-0D4478721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A97553-819B-3BFD-419D-CACE792866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063815-A5E5-3B26-B8D8-340BF4042F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1DC9E-0FA7-8D9B-9D90-218E5ED60C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172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73F2C-57D4-EB1F-50BE-DF0E8B13E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B4B30B-7082-28C3-A0DD-77F913B65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B5D88C-DEE9-197F-05D5-CCD6C4310E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AA084-C9D9-6FC7-23A2-97F78C6F66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212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EDE3E-9B60-4FF8-BA55-8A48D4E44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4CEF73-F486-E3CF-AB7F-E751E306C3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29A5DF-05F0-E727-6C42-C537B22EA7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6B081E-2E3A-07DE-238C-910202C477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063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17B6E-1DD4-2B08-8A42-871784361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8BC38D-D47F-36F3-5C54-50A68D188C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EB4B2E-826A-3CC6-1073-ED15E64E5D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35D60C-A69A-E696-C908-ED21C07624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434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0BB27-9856-B96D-533F-4BFDA868B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5B4E7B-1A25-ECEA-1FAE-EF55A3EF72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D83B9D-A8A1-54F6-191C-6F35AD7833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70958E-AB4F-A443-86A6-CB04B7A9C5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446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4EF85-CD85-5A42-410A-5B71A2385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81444A-F991-A097-C837-9876423A53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8CFB83-2A9B-59EC-60FB-BE39D5EFF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5DDC1-E8C4-02A4-E30F-419373B31A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2078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13E2B-2CE3-0C00-94E1-90538E1E9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716707-9C28-785A-467B-1895870510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39F9A5-D6C4-DF96-FF81-D30A0212AB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FB984C-39AA-08B1-67B0-1885FF0EE5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03400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5388E-F607-84CB-F15A-C6B1ACECE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9FB67A-2E75-85A1-6FE8-B69380C8C8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3BBAD3-E060-58BD-BA15-BC269FD7A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EAC118-0235-F491-7412-32BD81D50C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9343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A6459-EBB3-BD90-C7C1-1D55F7F2F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9B44CD-75CB-614D-A08D-CA5C8A032D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862726-63EF-C1B9-347D-5ACB84BB9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B7798-E403-B4A0-2229-63EBEDC43B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3991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2DEBBE-6CA3-5341-48D8-61B30C4B1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74B153-48D7-E4D7-DADD-1FA8DA624A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653BFD-C93F-F97C-56FD-F18F65F491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1D994-3521-E88B-542B-D3A5BC33BF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83A999-5E0E-42CA-8400-604AE921FF7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736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FC2DF-AD59-BA21-45A0-5636632580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A220F9-825E-EBA7-975B-92249164CB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E6622-75CD-58B2-692D-485316D5A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8AD20-2CA6-4218-B37F-970FFB4A3086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16CFD-451F-D904-B819-34EEC0C80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1421B-3958-273C-D463-1C33A36F5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C42B-5492-47E2-9B8F-72C04F2B4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089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6242C-C56A-529B-3227-9BC648B02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69325-BF98-2E44-1CBE-114B24169B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5CAA4-A9F6-8FF5-1D56-A7FD23A6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8AD20-2CA6-4218-B37F-970FFB4A3086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C40E4-2976-C1C0-D98B-12A58CEDD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C758F6-6636-0BBC-BC4B-8D4DE6E5B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C42B-5492-47E2-9B8F-72C04F2B4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396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8EB92-59A5-3A12-83E7-77A7C1C27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FA4BCE-FC7F-795F-04D4-74035544DB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41891-F0A0-02D3-9718-EB409FDE9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8AD20-2CA6-4218-B37F-970FFB4A3086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55CD21-F184-4FEC-91A9-5F885F510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651B0-DE57-5065-4E23-CD4083487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C42B-5492-47E2-9B8F-72C04F2B4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818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34C8C-A552-E1B8-5CED-4A6FC9BBE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DA19F-B367-8645-4B1B-648809A25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1C267E-E9C4-0FAD-4CEE-F4EDE76E4A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A8D210-ABD0-435E-2D41-CCDEF29E1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8AD20-2CA6-4218-B37F-970FFB4A3086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FEAAD-1F9A-B7F1-BB17-330CE6AE2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1BF552-0A52-0E6E-3ACD-6D4066356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C42B-5492-47E2-9B8F-72C04F2B4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556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1749C-B5B0-18E1-456F-FA3241C94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244283-8C06-D314-DF58-22865D65E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01A9BC-B6ED-7382-A643-6E3341D274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B02CAE-FF42-AACF-3547-5521D48E6B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CEFE22-3F79-DD21-0F3B-8C226FBA7D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F44DBA-963E-F373-B2F0-5CAF5064A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8AD20-2CA6-4218-B37F-970FFB4A3086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3D7299-A004-88B0-77C9-60E04AEC6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57567F-FECB-BBF5-F577-627B9DAE8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C42B-5492-47E2-9B8F-72C04F2B4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609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5B8A6-3A0F-7BA0-5BB5-53CF3CEE4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156972-7139-0404-826C-1F9B81CB4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8AD20-2CA6-4218-B37F-970FFB4A3086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DDAD1F-FCD3-9E1C-A7FC-5A25F8B6F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46738C-9C11-ED2A-6F7F-518F2CC1D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C42B-5492-47E2-9B8F-72C04F2B4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641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5CBE7B-9B70-F7A3-C331-D3E9383EA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8AD20-2CA6-4218-B37F-970FFB4A3086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DD5ED7-A62F-7F6D-4BAA-92862C9CA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842C7-42E9-2395-3413-B6DA2AB8B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C42B-5492-47E2-9B8F-72C04F2B4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103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DB4A4-EEC4-65FB-54AB-82026BE57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83EE4-893B-0948-9607-393AE363F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48EA3-D817-CBE0-9665-9616007DA1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43703-68E3-A2A8-7364-BC3B0E291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8AD20-2CA6-4218-B37F-970FFB4A3086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03C6F2-FDFF-46E5-4E07-22578E72F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33E53-257F-0AC9-30D0-5813256F4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C42B-5492-47E2-9B8F-72C04F2B4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137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DDD3B-4904-4C46-E095-32C1B89D6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9F9C02-F143-DE81-47C0-03542BE937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F03D39-814D-EA95-4702-4D5B46465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A0E70-711B-C68B-4519-55B4C9848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8AD20-2CA6-4218-B37F-970FFB4A3086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FBC0D2-15A5-CD11-B5B3-EDDB8BBC4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CED68B-78DA-013F-1536-0328B8AE6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C42B-5492-47E2-9B8F-72C04F2B4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609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BC8B7-A30A-55A3-3BB4-D534BD079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0BADF8-4627-98D1-ADCE-2677418C5D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16E60-4948-760B-F804-94CF86328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8AD20-2CA6-4218-B37F-970FFB4A3086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55C7A-42F2-732D-AD82-E129679B4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54144-DAEF-0B16-B47B-B8D8726BD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C42B-5492-47E2-9B8F-72C04F2B4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939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AB9052-1E45-497B-3488-2D72695981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78A5AC-D35C-1906-B063-C62DACE9E3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0342B-0C03-B48A-AFC6-3C549F760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8AD20-2CA6-4218-B37F-970FFB4A3086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2B235-4915-5EC3-119E-D749C8E0B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93520-8EFA-4DB6-09BC-1B3922418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7C42B-5492-47E2-9B8F-72C04F2B4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490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E68F591-F3C7-4872-BBA0-0693794F4F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99414" y="1051551"/>
            <a:ext cx="3565524" cy="2384898"/>
          </a:xfrm>
        </p:spPr>
        <p:txBody>
          <a:bodyPr anchor="b" anchorCtr="0">
            <a:noAutofit/>
          </a:bodyPr>
          <a:lstStyle/>
          <a:p>
            <a:r>
              <a:rPr lang="en-US" sz="4800" dirty="0"/>
              <a:t>3DFloat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67766A8-18D5-4391-8DB7-7BFF642763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452360" cy="6858000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38AD48E-7D67-4BE9-97B6-DB64DE525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999413" y="445272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6FF8E2-165B-49EB-8120-14190F949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915300" y="5534727"/>
            <a:ext cx="667802" cy="631474"/>
            <a:chOff x="10478914" y="1506691"/>
            <a:chExt cx="667802" cy="631474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9B763A7-EE7D-4306-8306-01E8C86E6350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B3A935F-6844-4FCE-B0AE-5492715A58F1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16EB97-6E8A-4B50-8701-7CB158044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99413" y="3568700"/>
            <a:ext cx="3565524" cy="1731963"/>
          </a:xfrm>
        </p:spPr>
        <p:txBody>
          <a:bodyPr>
            <a:noAutofit/>
          </a:bodyPr>
          <a:lstStyle>
            <a:lvl1pPr>
              <a:buNone/>
              <a:defRPr sz="2000"/>
            </a:lvl1pPr>
            <a:lvl2pPr>
              <a:buNone/>
              <a:defRPr sz="2000"/>
            </a:lvl2pPr>
            <a:lvl3pPr>
              <a:buNone/>
              <a:defRPr sz="2000"/>
            </a:lvl3pPr>
            <a:lvl4pPr>
              <a:buNone/>
              <a:defRPr sz="2000"/>
            </a:lvl4pPr>
            <a:lvl5pPr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39145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E68F591-F3C7-4872-BBA0-0693794F4F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99414" y="1051551"/>
            <a:ext cx="3565524" cy="2384898"/>
          </a:xfrm>
        </p:spPr>
        <p:txBody>
          <a:bodyPr anchor="b" anchorCtr="0">
            <a:noAutofit/>
          </a:bodyPr>
          <a:lstStyle/>
          <a:p>
            <a:r>
              <a:rPr lang="en-US" sz="4800" dirty="0"/>
              <a:t>3DFloat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67766A8-18D5-4391-8DB7-7BFF6427636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452360" cy="6858000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38AD48E-7D67-4BE9-97B6-DB64DE525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7999413" y="445272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6FF8E2-165B-49EB-8120-14190F949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5400000">
            <a:off x="10915300" y="5534727"/>
            <a:ext cx="667802" cy="631474"/>
            <a:chOff x="10478914" y="1506691"/>
            <a:chExt cx="667802" cy="631474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9B763A7-EE7D-4306-8306-01E8C86E6350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B3A935F-6844-4FCE-B0AE-5492715A58F1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16EB97-6E8A-4B50-8701-7CB158044D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999413" y="3568700"/>
            <a:ext cx="3565524" cy="1731963"/>
          </a:xfrm>
        </p:spPr>
        <p:txBody>
          <a:bodyPr>
            <a:noAutofit/>
          </a:bodyPr>
          <a:lstStyle>
            <a:lvl1pPr>
              <a:buNone/>
              <a:defRPr sz="2000"/>
            </a:lvl1pPr>
            <a:lvl2pPr>
              <a:buNone/>
              <a:defRPr sz="2000"/>
            </a:lvl2pPr>
            <a:lvl3pPr>
              <a:buNone/>
              <a:defRPr sz="2000"/>
            </a:lvl3pPr>
            <a:lvl4pPr>
              <a:buNone/>
              <a:defRPr sz="2000"/>
            </a:lvl4pPr>
            <a:lvl5pPr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62652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923D16-1EC5-4C17-ABA8-B13A1256B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4" y="549275"/>
            <a:ext cx="3565524" cy="1997855"/>
          </a:xfrm>
        </p:spPr>
        <p:txBody>
          <a:bodyPr wrap="square" anchor="b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0294D8B-CF64-4C26-8C78-57A375E7D33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50863" y="2677306"/>
            <a:ext cx="3565525" cy="3415519"/>
          </a:xfrm>
        </p:spPr>
        <p:txBody>
          <a:bodyPr anchor="t" anchorCtr="0">
            <a:noAutofit/>
          </a:bodyPr>
          <a:lstStyle>
            <a:lvl1pPr>
              <a:buNone/>
              <a:defRPr/>
            </a:lvl1pPr>
          </a:lstStyle>
          <a:p>
            <a:pPr>
              <a:lnSpc>
                <a:spcPct val="120000"/>
              </a:lnSpc>
            </a:pPr>
            <a:r>
              <a:rPr lang="en-US" sz="1600" dirty="0"/>
              <a:t>Click to add text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7BCF456-426F-435B-8DF0-A32A44F5A8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08928" y="1596771"/>
            <a:ext cx="3448558" cy="3448558"/>
          </a:xfrm>
          <a:custGeom>
            <a:avLst/>
            <a:gdLst>
              <a:gd name="connsiteX0" fmla="*/ 1724279 w 3448558"/>
              <a:gd name="connsiteY0" fmla="*/ 0 h 3448558"/>
              <a:gd name="connsiteX1" fmla="*/ 3448558 w 3448558"/>
              <a:gd name="connsiteY1" fmla="*/ 1724279 h 3448558"/>
              <a:gd name="connsiteX2" fmla="*/ 1724279 w 3448558"/>
              <a:gd name="connsiteY2" fmla="*/ 3448558 h 3448558"/>
              <a:gd name="connsiteX3" fmla="*/ 0 w 3448558"/>
              <a:gd name="connsiteY3" fmla="*/ 1724279 h 3448558"/>
              <a:gd name="connsiteX4" fmla="*/ 1724279 w 3448558"/>
              <a:gd name="connsiteY4" fmla="*/ 0 h 3448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8558" h="3448558">
                <a:moveTo>
                  <a:pt x="1724279" y="0"/>
                </a:moveTo>
                <a:cubicBezTo>
                  <a:pt x="2676572" y="0"/>
                  <a:pt x="3448558" y="771986"/>
                  <a:pt x="3448558" y="1724279"/>
                </a:cubicBezTo>
                <a:cubicBezTo>
                  <a:pt x="3448558" y="2676572"/>
                  <a:pt x="2676572" y="3448558"/>
                  <a:pt x="1724279" y="3448558"/>
                </a:cubicBezTo>
                <a:cubicBezTo>
                  <a:pt x="771986" y="3448558"/>
                  <a:pt x="0" y="2676572"/>
                  <a:pt x="0" y="1724279"/>
                </a:cubicBezTo>
                <a:cubicBezTo>
                  <a:pt x="0" y="771986"/>
                  <a:pt x="771986" y="0"/>
                  <a:pt x="1724279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4813A609-7079-46D5-9C1D-52004ABDAC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18575" y="596392"/>
            <a:ext cx="2263776" cy="2263776"/>
          </a:xfrm>
          <a:custGeom>
            <a:avLst/>
            <a:gdLst>
              <a:gd name="connsiteX0" fmla="*/ 1131888 w 2263776"/>
              <a:gd name="connsiteY0" fmla="*/ 0 h 2263776"/>
              <a:gd name="connsiteX1" fmla="*/ 2263776 w 2263776"/>
              <a:gd name="connsiteY1" fmla="*/ 1131888 h 2263776"/>
              <a:gd name="connsiteX2" fmla="*/ 1131888 w 2263776"/>
              <a:gd name="connsiteY2" fmla="*/ 2263776 h 2263776"/>
              <a:gd name="connsiteX3" fmla="*/ 0 w 2263776"/>
              <a:gd name="connsiteY3" fmla="*/ 1131888 h 2263776"/>
              <a:gd name="connsiteX4" fmla="*/ 1131888 w 2263776"/>
              <a:gd name="connsiteY4" fmla="*/ 0 h 2263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3776" h="2263776">
                <a:moveTo>
                  <a:pt x="1131888" y="0"/>
                </a:moveTo>
                <a:cubicBezTo>
                  <a:pt x="1757012" y="0"/>
                  <a:pt x="2263776" y="506764"/>
                  <a:pt x="2263776" y="1131888"/>
                </a:cubicBezTo>
                <a:cubicBezTo>
                  <a:pt x="2263776" y="1757012"/>
                  <a:pt x="1757012" y="2263776"/>
                  <a:pt x="1131888" y="2263776"/>
                </a:cubicBezTo>
                <a:cubicBezTo>
                  <a:pt x="506764" y="2263776"/>
                  <a:pt x="0" y="1757012"/>
                  <a:pt x="0" y="1131888"/>
                </a:cubicBezTo>
                <a:cubicBezTo>
                  <a:pt x="0" y="506764"/>
                  <a:pt x="506764" y="0"/>
                  <a:pt x="113188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14F21DF-D5E0-4C6C-BA2C-D69D65DBB18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091612" y="3324733"/>
            <a:ext cx="2936876" cy="2936876"/>
          </a:xfrm>
          <a:custGeom>
            <a:avLst/>
            <a:gdLst>
              <a:gd name="connsiteX0" fmla="*/ 1468438 w 2936876"/>
              <a:gd name="connsiteY0" fmla="*/ 0 h 2936876"/>
              <a:gd name="connsiteX1" fmla="*/ 2936876 w 2936876"/>
              <a:gd name="connsiteY1" fmla="*/ 1468438 h 2936876"/>
              <a:gd name="connsiteX2" fmla="*/ 1468438 w 2936876"/>
              <a:gd name="connsiteY2" fmla="*/ 2936876 h 2936876"/>
              <a:gd name="connsiteX3" fmla="*/ 0 w 2936876"/>
              <a:gd name="connsiteY3" fmla="*/ 1468438 h 2936876"/>
              <a:gd name="connsiteX4" fmla="*/ 1468438 w 2936876"/>
              <a:gd name="connsiteY4" fmla="*/ 0 h 2936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36876" h="2936876">
                <a:moveTo>
                  <a:pt x="1468438" y="0"/>
                </a:moveTo>
                <a:cubicBezTo>
                  <a:pt x="2279434" y="0"/>
                  <a:pt x="2936876" y="657442"/>
                  <a:pt x="2936876" y="1468438"/>
                </a:cubicBezTo>
                <a:cubicBezTo>
                  <a:pt x="2936876" y="2279434"/>
                  <a:pt x="2279434" y="2936876"/>
                  <a:pt x="1468438" y="2936876"/>
                </a:cubicBezTo>
                <a:cubicBezTo>
                  <a:pt x="657442" y="2936876"/>
                  <a:pt x="0" y="2279434"/>
                  <a:pt x="0" y="1468438"/>
                </a:cubicBezTo>
                <a:cubicBezTo>
                  <a:pt x="0" y="657442"/>
                  <a:pt x="657442" y="0"/>
                  <a:pt x="1468438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2FF63B4-C261-4597-9EE0-811D250B9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6548755" y="850167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92CF088-7F97-4A11-8A81-0EF641F69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02297" y="5691007"/>
            <a:ext cx="667802" cy="631474"/>
            <a:chOff x="3409557" y="4940429"/>
            <a:chExt cx="667802" cy="631474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65B23B7-CE74-4974-ABD8-BFA31D583416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3537358" y="4940429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F99BB1F-6C9D-4972-9EF4-98ACD7BE71E5}"/>
                </a:ext>
              </a:extLst>
            </p:cNvPr>
            <p:cNvSpPr/>
            <p:nvPr/>
          </p:nvSpPr>
          <p:spPr>
            <a:xfrm rot="13500000">
              <a:off x="3544558" y="4858365"/>
              <a:ext cx="270000" cy="540001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873846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458B3A1-C77D-4AFC-B2C8-79520B53C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7200"/>
            <a:ext cx="4500562" cy="1562959"/>
          </a:xfrm>
        </p:spPr>
        <p:txBody>
          <a:bodyPr wrap="square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551DA26-B267-4F28-B4D0-65B3EF6E111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054096" cy="3776472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95544A62-DA23-4840-99DE-09AFC8F4DC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54096" y="0"/>
            <a:ext cx="3054096" cy="3776472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1">
            <a:extLst>
              <a:ext uri="{FF2B5EF4-FFF2-40B4-BE49-F238E27FC236}">
                <a16:creationId xmlns:a16="http://schemas.microsoft.com/office/drawing/2014/main" id="{0C91AF30-C5BB-4601-BDEB-E60C93A169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83808" y="0"/>
            <a:ext cx="3054096" cy="3776472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5B625AA5-EA5B-4115-A461-DA2C7087D83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37904" y="0"/>
            <a:ext cx="3054096" cy="3776472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1B1AE41C-3196-4E6F-A3A8-313A92677FF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>
            <a:noAutofit/>
          </a:bodyPr>
          <a:lstStyle>
            <a:lvl1pPr marL="228600" indent="-228600">
              <a:lnSpc>
                <a:spcPct val="100000"/>
              </a:lnSpc>
              <a:buFont typeface="Arial" panose="020B0604020202020204" pitchFamily="34" charset="0"/>
              <a:buChar char="•"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236052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accent5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Tuesday, February 2,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0517979-166D-4AAA-ABBC-0C3E5C2EC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90000">
                <a:schemeClr val="bg2">
                  <a:alpha val="60000"/>
                </a:schemeClr>
              </a:gs>
              <a:gs pos="28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111559-B769-4E2A-A891-97B3C4AA6BAC}"/>
              </a:ext>
            </a:extLst>
          </p:cNvPr>
          <p:cNvSpPr/>
          <p:nvPr userDrawn="1"/>
        </p:nvSpPr>
        <p:spPr>
          <a:xfrm rot="10800000">
            <a:off x="0" y="-3"/>
            <a:ext cx="9000000" cy="6857998"/>
          </a:xfrm>
          <a:prstGeom prst="rect">
            <a:avLst/>
          </a:prstGeom>
          <a:gradFill flip="none" rotWithShape="1">
            <a:gsLst>
              <a:gs pos="50000">
                <a:schemeClr val="bg2">
                  <a:alpha val="60000"/>
                </a:schemeClr>
              </a:gs>
              <a:gs pos="0">
                <a:schemeClr val="bg2">
                  <a:alpha val="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54E1219-253E-4FEF-A576-83857F44B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anchor="b" anchorCtr="0">
            <a:noAutofit/>
          </a:bodyPr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93411FC5-0B5A-4566-9984-827485AF9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16724"/>
            <a:ext cx="5437187" cy="2265216"/>
          </a:xfrm>
        </p:spPr>
        <p:txBody>
          <a:bodyPr>
            <a:noAutofit/>
          </a:bodyPr>
          <a:lstStyle>
            <a:lvl1pPr>
              <a:buNone/>
              <a:defRPr sz="2400"/>
            </a:lvl1pPr>
          </a:lstStyle>
          <a:p>
            <a:r>
              <a:rPr lang="en-US">
                <a:solidFill>
                  <a:schemeClr val="tx1">
                    <a:alpha val="60000"/>
                  </a:schemeClr>
                </a:solidFill>
              </a:rPr>
              <a:t>Click to edit Master subtitle style</a:t>
            </a:r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303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75B2FBE-0C5C-48AA-8D7F-9D5B7373CC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93411FC5-0B5A-4566-9984-827485AF9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557281"/>
            <a:ext cx="6640285" cy="3300719"/>
          </a:xfrm>
          <a:gradFill>
            <a:gsLst>
              <a:gs pos="0">
                <a:schemeClr val="bg2">
                  <a:alpha val="0"/>
                </a:schemeClr>
              </a:gs>
              <a:gs pos="50000">
                <a:schemeClr val="bg2">
                  <a:alpha val="60000"/>
                </a:schemeClr>
              </a:gs>
            </a:gsLst>
            <a:lin ang="10800000" scaled="1"/>
          </a:gradFill>
        </p:spPr>
        <p:txBody>
          <a:bodyPr>
            <a:noAutofit/>
          </a:bodyPr>
          <a:lstStyle>
            <a:lvl1pPr marL="548640" indent="0">
              <a:lnSpc>
                <a:spcPct val="200000"/>
              </a:lnSpc>
              <a:buNone/>
              <a:defRPr/>
            </a:lvl1pPr>
          </a:lstStyle>
          <a:p>
            <a:r>
              <a:rPr lang="en-US">
                <a:solidFill>
                  <a:schemeClr val="tx1">
                    <a:alpha val="60000"/>
                  </a:schemeClr>
                </a:solidFill>
              </a:rPr>
              <a:t>Click to edit Master subtitle style</a:t>
            </a:r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54E1219-253E-4FEF-A576-83857F44BA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6640285" cy="3535509"/>
          </a:xfrm>
          <a:gradFill flip="none" rotWithShape="1">
            <a:gsLst>
              <a:gs pos="0">
                <a:schemeClr val="bg2">
                  <a:alpha val="0"/>
                </a:schemeClr>
              </a:gs>
              <a:gs pos="50000">
                <a:schemeClr val="bg2">
                  <a:alpha val="70000"/>
                </a:schemeClr>
              </a:gs>
            </a:gsLst>
            <a:lin ang="10800000" scaled="1"/>
            <a:tileRect/>
          </a:gradFill>
        </p:spPr>
        <p:txBody>
          <a:bodyPr anchor="b" anchorCtr="0">
            <a:noAutofit/>
          </a:bodyPr>
          <a:lstStyle>
            <a:lvl1pPr marL="548640">
              <a:spcAft>
                <a:spcPts val="1200"/>
              </a:spcAft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300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Chart Table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1181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062BF5C-3876-4161-B4FF-14CA94D32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549275"/>
            <a:ext cx="3566160" cy="3384550"/>
          </a:xfrm>
        </p:spPr>
        <p:txBody>
          <a:bodyPr wrap="square" anchor="b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17C5C60-EC4D-410B-9997-0B7328960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0573155C-3428-4F4F-AE66-A519D777EAAE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1853496C-159E-4D47-94B5-0835FB6511B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E93E330-715B-44E8-84D9-CE166D428D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80A2FA6F-99B7-4984-A80C-570644889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439C8C03-81B3-4DE8-B96A-78258E4467C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0863" y="4097338"/>
            <a:ext cx="3565524" cy="2351087"/>
          </a:xfrm>
        </p:spPr>
        <p:txBody>
          <a:bodyPr>
            <a:noAutofit/>
          </a:bodyPr>
          <a:lstStyle>
            <a:lvl1pPr>
              <a:buNone/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1FBB56D-C8B1-4ED9-A5DB-72BA636DAD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35809" y="65663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6705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38C6F9E-A74F-4F54-9409-B6B93DF8CE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773729"/>
            <a:ext cx="12192000" cy="1084271"/>
          </a:xfrm>
          <a:prstGeom prst="rect">
            <a:avLst/>
          </a:prstGeom>
          <a:gradFill flip="none" rotWithShape="1">
            <a:gsLst>
              <a:gs pos="100000">
                <a:schemeClr val="bg2">
                  <a:alpha val="60000"/>
                </a:schemeClr>
              </a:gs>
              <a:gs pos="40000">
                <a:schemeClr val="bg2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F0F71C5-78A4-4793-9BD4-3DF0EE3E3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288775" y="7626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Title 5">
            <a:extLst>
              <a:ext uri="{FF2B5EF4-FFF2-40B4-BE49-F238E27FC236}">
                <a16:creationId xmlns:a16="http://schemas.microsoft.com/office/drawing/2014/main" id="{36F60F77-4CC9-4F86-B70A-85012C6588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0" y="548640"/>
            <a:ext cx="8281987" cy="1253041"/>
          </a:xfrm>
        </p:spPr>
        <p:txBody>
          <a:bodyPr>
            <a:noAutofit/>
          </a:bodyPr>
          <a:lstStyle/>
          <a:p>
            <a:r>
              <a:rPr lang="en-US" dirty="0"/>
              <a:t>Team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6093F87-C1F6-4FAB-B891-6F7D7FC2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800565" y="4518946"/>
            <a:ext cx="1980001" cy="1363916"/>
            <a:chOff x="4879602" y="3781429"/>
            <a:chExt cx="1980001" cy="1363916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E1A4FD5C-1E5B-46D1-BA9D-99928D19AF04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7DF0ED5-A971-408F-A055-C7E5D7A623C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A81F353-4C5B-4A37-9846-2C1E2D0FC25F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42B74EA3-11CE-4D3F-99AD-162563447653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6" name="Picture Placeholder 55">
            <a:extLst>
              <a:ext uri="{FF2B5EF4-FFF2-40B4-BE49-F238E27FC236}">
                <a16:creationId xmlns:a16="http://schemas.microsoft.com/office/drawing/2014/main" id="{8F41896B-6DDA-4F82-9F74-3EBF93A3CD5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78992" y="1990724"/>
            <a:ext cx="1691640" cy="1435608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57" name="Picture Placeholder 55">
            <a:extLst>
              <a:ext uri="{FF2B5EF4-FFF2-40B4-BE49-F238E27FC236}">
                <a16:creationId xmlns:a16="http://schemas.microsoft.com/office/drawing/2014/main" id="{EF85499B-C29A-4C8B-922C-7CE4771E352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38384" y="1990724"/>
            <a:ext cx="1691640" cy="1435608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58" name="Picture Placeholder 55">
            <a:extLst>
              <a:ext uri="{FF2B5EF4-FFF2-40B4-BE49-F238E27FC236}">
                <a16:creationId xmlns:a16="http://schemas.microsoft.com/office/drawing/2014/main" id="{F82A1DB8-0AE7-4E17-B07B-FCF45B85EE1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61976" y="1993392"/>
            <a:ext cx="1691640" cy="1435608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59" name="Picture Placeholder 55">
            <a:extLst>
              <a:ext uri="{FF2B5EF4-FFF2-40B4-BE49-F238E27FC236}">
                <a16:creationId xmlns:a16="http://schemas.microsoft.com/office/drawing/2014/main" id="{A83EEB6C-83B7-471D-B5A4-4071534048D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485568" y="1990724"/>
            <a:ext cx="1691640" cy="1435608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17A96A8C-F792-485A-9BB9-4DEDCA0CE6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79500" y="3781425"/>
            <a:ext cx="1711325" cy="365760"/>
          </a:xfrm>
        </p:spPr>
        <p:txBody>
          <a:bodyPr>
            <a:noAutofit/>
          </a:bodyPr>
          <a:lstStyle>
            <a:lvl1pPr>
              <a:buNone/>
              <a:defRPr sz="2000"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6C65AE07-519E-4E3B-8521-621C8343914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78733" y="4232949"/>
            <a:ext cx="1711572" cy="638175"/>
          </a:xfrm>
        </p:spPr>
        <p:txBody>
          <a:bodyPr>
            <a:noAutofit/>
          </a:bodyPr>
          <a:lstStyle>
            <a:lvl1pPr>
              <a:buNone/>
              <a:defRPr sz="18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5" name="Text Placeholder 62">
            <a:extLst>
              <a:ext uri="{FF2B5EF4-FFF2-40B4-BE49-F238E27FC236}">
                <a16:creationId xmlns:a16="http://schemas.microsoft.com/office/drawing/2014/main" id="{FB878318-C287-428B-8105-429BC4B03F5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39151" y="3781425"/>
            <a:ext cx="1711325" cy="365760"/>
          </a:xfrm>
        </p:spPr>
        <p:txBody>
          <a:bodyPr>
            <a:noAutofit/>
          </a:bodyPr>
          <a:lstStyle>
            <a:lvl1pPr>
              <a:buNone/>
              <a:defRPr sz="2000"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4" name="Text Placeholder 60">
            <a:extLst>
              <a:ext uri="{FF2B5EF4-FFF2-40B4-BE49-F238E27FC236}">
                <a16:creationId xmlns:a16="http://schemas.microsoft.com/office/drawing/2014/main" id="{1465E516-2CEF-4F9E-9375-7D41DCFCBB4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38384" y="4232949"/>
            <a:ext cx="1711572" cy="638175"/>
          </a:xfrm>
        </p:spPr>
        <p:txBody>
          <a:bodyPr>
            <a:noAutofit/>
          </a:bodyPr>
          <a:lstStyle>
            <a:lvl1pPr>
              <a:buNone/>
              <a:defRPr sz="18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7" name="Text Placeholder 62">
            <a:extLst>
              <a:ext uri="{FF2B5EF4-FFF2-40B4-BE49-F238E27FC236}">
                <a16:creationId xmlns:a16="http://schemas.microsoft.com/office/drawing/2014/main" id="{FE012CE3-36AA-4016-A88E-27BCFFEFD69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62743" y="3781425"/>
            <a:ext cx="1711325" cy="365760"/>
          </a:xfrm>
        </p:spPr>
        <p:txBody>
          <a:bodyPr>
            <a:noAutofit/>
          </a:bodyPr>
          <a:lstStyle>
            <a:lvl1pPr>
              <a:buNone/>
              <a:defRPr sz="2000"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6" name="Text Placeholder 60">
            <a:extLst>
              <a:ext uri="{FF2B5EF4-FFF2-40B4-BE49-F238E27FC236}">
                <a16:creationId xmlns:a16="http://schemas.microsoft.com/office/drawing/2014/main" id="{8D5671AF-0137-4226-8A84-2784817E51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61976" y="4232949"/>
            <a:ext cx="1711572" cy="638175"/>
          </a:xfrm>
        </p:spPr>
        <p:txBody>
          <a:bodyPr>
            <a:noAutofit/>
          </a:bodyPr>
          <a:lstStyle>
            <a:lvl1pPr>
              <a:buNone/>
              <a:defRPr sz="18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69" name="Text Placeholder 62">
            <a:extLst>
              <a:ext uri="{FF2B5EF4-FFF2-40B4-BE49-F238E27FC236}">
                <a16:creationId xmlns:a16="http://schemas.microsoft.com/office/drawing/2014/main" id="{DA1587F0-23BF-4FB8-B06C-2B0AA928E93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33112" y="3787288"/>
            <a:ext cx="1711325" cy="365760"/>
          </a:xfrm>
        </p:spPr>
        <p:txBody>
          <a:bodyPr>
            <a:noAutofit/>
          </a:bodyPr>
          <a:lstStyle>
            <a:lvl1pPr>
              <a:buNone/>
              <a:defRPr sz="2000" b="1"/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565C0B22-B5E7-44BB-A17C-7FB5BB5D82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32345" y="4238812"/>
            <a:ext cx="1711572" cy="638175"/>
          </a:xfrm>
        </p:spPr>
        <p:txBody>
          <a:bodyPr>
            <a:noAutofit/>
          </a:bodyPr>
          <a:lstStyle>
            <a:lvl1pPr>
              <a:buNone/>
              <a:defRPr sz="18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3027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0_Content 2 column (comparison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48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5437186" cy="535354"/>
          </a:xfrm>
        </p:spPr>
        <p:txBody>
          <a:bodyPr anchor="b">
            <a:no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427370"/>
            <a:ext cx="5429114" cy="3515555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731375"/>
            <a:ext cx="5436392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427370"/>
            <a:ext cx="5436391" cy="3515555"/>
          </a:xfrm>
        </p:spPr>
        <p:txBody>
          <a:bodyPr>
            <a:noAutofit/>
          </a:bodyPr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2659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7931" y="5260967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10834944" y="17126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10849344" y="51834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BCCE83C-72C8-4181-8D03-7CFB23A6F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48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C6FCDFCC-38D1-43A4-918F-491DBA6B2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731375"/>
            <a:ext cx="3563936" cy="535354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8A9CB740-8581-4D62-8481-7ECBBEDA7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476" y="2432304"/>
            <a:ext cx="3563936" cy="3515555"/>
          </a:xfrm>
        </p:spPr>
        <p:txBody>
          <a:bodyPr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AB16E493-D962-46EC-BBB8-D7E68A6404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41573" y="1731375"/>
            <a:ext cx="3566160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en-US" sz="20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/>
              <a:t>Click to edit Master text styles</a:t>
            </a:r>
          </a:p>
        </p:txBody>
      </p:sp>
      <p:sp>
        <p:nvSpPr>
          <p:cNvPr id="23" name="Content Placeholder 5">
            <a:extLst>
              <a:ext uri="{FF2B5EF4-FFF2-40B4-BE49-F238E27FC236}">
                <a16:creationId xmlns:a16="http://schemas.microsoft.com/office/drawing/2014/main" id="{88CC7C67-1BA6-42A6-B9D3-8EDF70A3DB3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41573" y="2427370"/>
            <a:ext cx="3508755" cy="3515555"/>
          </a:xfrm>
        </p:spPr>
        <p:txBody>
          <a:bodyPr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C17092A6-D0E6-4EF2-B3B8-AE35438D4D77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8139659" y="1731375"/>
            <a:ext cx="3566160" cy="535354"/>
          </a:xfrm>
        </p:spPr>
        <p:txBody>
          <a:bodyPr vert="horz" wrap="square" lIns="0" tIns="0" rIns="0" bIns="0" rtlCol="0" anchor="b">
            <a:noAutofit/>
          </a:bodyPr>
          <a:lstStyle>
            <a:lvl1pPr>
              <a:buNone/>
              <a:defRPr lang="en-US" sz="2000" b="0" cap="all" spc="200" baseline="0" dirty="0">
                <a:solidFill>
                  <a:schemeClr val="tx1"/>
                </a:solidFill>
              </a:defRPr>
            </a:lvl1pPr>
          </a:lstStyle>
          <a:p>
            <a:pPr marL="228600" lvl="0" indent="-228600"/>
            <a:r>
              <a:rPr lang="en-US" dirty="0"/>
              <a:t>Click to EDIT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4534254A-2561-400F-87CB-18A8D35381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39659" y="2427370"/>
            <a:ext cx="3508755" cy="3515555"/>
          </a:xfrm>
        </p:spPr>
        <p:txBody>
          <a:bodyPr>
            <a:noAutofit/>
          </a:bodyPr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7971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949202B-67AE-417A-A336-DF5257FFD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508500"/>
            <a:ext cx="4500562" cy="1562959"/>
          </a:xfrm>
        </p:spPr>
        <p:txBody>
          <a:bodyPr wrap="square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786D546-2834-435F-950F-DCEFE654B3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776472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BD763BD-EAC5-4DB8-81AF-9743BB6A957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262411" y="4508500"/>
            <a:ext cx="6221412" cy="1563688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>
              <a:buNone/>
              <a:defRPr sz="1900"/>
            </a:lvl2pPr>
            <a:lvl3pPr>
              <a:buNone/>
              <a:defRPr sz="1900"/>
            </a:lvl3pPr>
            <a:lvl4pPr>
              <a:buNone/>
              <a:defRPr sz="1900"/>
            </a:lvl4pPr>
            <a:lvl5pPr>
              <a:buNone/>
              <a:defRPr sz="1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46AF837-10C6-44A5-B8D6-960A57487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8422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1">
            <a:extLst>
              <a:ext uri="{FF2B5EF4-FFF2-40B4-BE49-F238E27FC236}">
                <a16:creationId xmlns:a16="http://schemas.microsoft.com/office/drawing/2014/main" id="{97246E34-E6EE-4BF3-A0D3-A20868B5A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45BE5FFB-47D1-4474-B6CA-C3C936DF2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27610"/>
            <a:ext cx="5437187" cy="2265216"/>
          </a:xfrm>
        </p:spPr>
        <p:txBody>
          <a:bodyPr>
            <a:noAutofit/>
          </a:bodyPr>
          <a:lstStyle>
            <a:lvl1pPr>
              <a:buNone/>
              <a:defRPr sz="2400"/>
            </a:lvl1pPr>
          </a:lstStyle>
          <a:p>
            <a:r>
              <a:rPr lang="en-US">
                <a:solidFill>
                  <a:schemeClr val="tx1">
                    <a:alpha val="60000"/>
                  </a:schemeClr>
                </a:solidFill>
              </a:rPr>
              <a:t>Click to edit Master subtitle style</a:t>
            </a:r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008D9209-1A62-4AC3-BF92-94348A9BC06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56248" y="548640"/>
            <a:ext cx="5084064" cy="2880360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FADBFB6B-1787-4549-91B6-D748C66B13C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56248" y="3429000"/>
            <a:ext cx="5084064" cy="2880360"/>
          </a:xfrm>
          <a:solidFill>
            <a:schemeClr val="accent5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6966E3E-9B30-4375-AC9A-23256CC87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161347" y="125399"/>
            <a:ext cx="1404698" cy="1155641"/>
            <a:chOff x="11161347" y="125399"/>
            <a:chExt cx="1404698" cy="1155641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EBBC5A2-A37E-47DF-9230-9A75067F188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11161347" y="125399"/>
              <a:ext cx="1341675" cy="926985"/>
            </a:xfrm>
            <a:custGeom>
              <a:avLst/>
              <a:gdLst>
                <a:gd name="connsiteX0" fmla="*/ 1049126 w 1341675"/>
                <a:gd name="connsiteY0" fmla="*/ 8962 h 926985"/>
                <a:gd name="connsiteX1" fmla="*/ 1341675 w 1341675"/>
                <a:gd name="connsiteY1" fmla="*/ 301511 h 926985"/>
                <a:gd name="connsiteX2" fmla="*/ 1130649 w 1341675"/>
                <a:gd name="connsiteY2" fmla="*/ 512537 h 926985"/>
                <a:gd name="connsiteX3" fmla="*/ 1107397 w 1341675"/>
                <a:gd name="connsiteY3" fmla="*/ 499917 h 926985"/>
                <a:gd name="connsiteX4" fmla="*/ 926985 w 1341675"/>
                <a:gd name="connsiteY4" fmla="*/ 463493 h 926985"/>
                <a:gd name="connsiteX5" fmla="*/ 463493 w 1341675"/>
                <a:gd name="connsiteY5" fmla="*/ 926985 h 926985"/>
                <a:gd name="connsiteX6" fmla="*/ 0 w 1341675"/>
                <a:gd name="connsiteY6" fmla="*/ 926985 h 926985"/>
                <a:gd name="connsiteX7" fmla="*/ 926985 w 1341675"/>
                <a:gd name="connsiteY7" fmla="*/ 0 h 926985"/>
                <a:gd name="connsiteX8" fmla="*/ 1021763 w 1341675"/>
                <a:gd name="connsiteY8" fmla="*/ 4786 h 926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41675" h="926985">
                  <a:moveTo>
                    <a:pt x="1049126" y="8962"/>
                  </a:moveTo>
                  <a:lnTo>
                    <a:pt x="1341675" y="301511"/>
                  </a:lnTo>
                  <a:lnTo>
                    <a:pt x="1130649" y="512537"/>
                  </a:lnTo>
                  <a:lnTo>
                    <a:pt x="1107397" y="499917"/>
                  </a:lnTo>
                  <a:cubicBezTo>
                    <a:pt x="1051945" y="476462"/>
                    <a:pt x="990979" y="463493"/>
                    <a:pt x="926985" y="463493"/>
                  </a:cubicBezTo>
                  <a:cubicBezTo>
                    <a:pt x="671005" y="463493"/>
                    <a:pt x="463493" y="671005"/>
                    <a:pt x="463493" y="926985"/>
                  </a:cubicBezTo>
                  <a:lnTo>
                    <a:pt x="0" y="926985"/>
                  </a:lnTo>
                  <a:cubicBezTo>
                    <a:pt x="0" y="415026"/>
                    <a:pt x="415025" y="0"/>
                    <a:pt x="926985" y="0"/>
                  </a:cubicBezTo>
                  <a:cubicBezTo>
                    <a:pt x="958982" y="0"/>
                    <a:pt x="990601" y="1621"/>
                    <a:pt x="1021763" y="4786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54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11781B9A-C230-4FFC-90A8-E0571B1DEDA7}"/>
                </a:ext>
              </a:extLst>
            </p:cNvPr>
            <p:cNvSpPr/>
            <p:nvPr/>
          </p:nvSpPr>
          <p:spPr>
            <a:xfrm rot="2700000">
              <a:off x="11798454" y="994196"/>
              <a:ext cx="107098" cy="466589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  <a:effectLst>
              <a:innerShdw blurRad="63500" dist="254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295925C-3570-40F1-B3CE-07D947ED4643}"/>
                </a:ext>
              </a:extLst>
            </p:cNvPr>
            <p:cNvSpPr>
              <a:spLocks noChangeAspect="1"/>
            </p:cNvSpPr>
            <p:nvPr/>
          </p:nvSpPr>
          <p:spPr>
            <a:xfrm rot="18900000">
              <a:off x="11228590" y="129580"/>
              <a:ext cx="1337455" cy="1042921"/>
            </a:xfrm>
            <a:custGeom>
              <a:avLst/>
              <a:gdLst>
                <a:gd name="connsiteX0" fmla="*/ 1084058 w 1337455"/>
                <a:gd name="connsiteY0" fmla="*/ 16081 h 1042921"/>
                <a:gd name="connsiteX1" fmla="*/ 1337455 w 1337455"/>
                <a:gd name="connsiteY1" fmla="*/ 269477 h 1042921"/>
                <a:gd name="connsiteX2" fmla="*/ 1060775 w 1337455"/>
                <a:gd name="connsiteY2" fmla="*/ 546158 h 1042921"/>
                <a:gd name="connsiteX3" fmla="*/ 1020394 w 1337455"/>
                <a:gd name="connsiteY3" fmla="*/ 532055 h 1042921"/>
                <a:gd name="connsiteX4" fmla="*/ 926985 w 1337455"/>
                <a:gd name="connsiteY4" fmla="*/ 521461 h 1042921"/>
                <a:gd name="connsiteX5" fmla="*/ 463492 w 1337455"/>
                <a:gd name="connsiteY5" fmla="*/ 1042921 h 1042921"/>
                <a:gd name="connsiteX6" fmla="*/ 0 w 1337455"/>
                <a:gd name="connsiteY6" fmla="*/ 1042921 h 1042921"/>
                <a:gd name="connsiteX7" fmla="*/ 926984 w 1337455"/>
                <a:gd name="connsiteY7" fmla="*/ 0 h 1042921"/>
                <a:gd name="connsiteX8" fmla="*/ 1021763 w 1337455"/>
                <a:gd name="connsiteY8" fmla="*/ 5384 h 104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37455" h="1042921">
                  <a:moveTo>
                    <a:pt x="1084058" y="16081"/>
                  </a:moveTo>
                  <a:lnTo>
                    <a:pt x="1337455" y="269477"/>
                  </a:lnTo>
                  <a:lnTo>
                    <a:pt x="1060775" y="546158"/>
                  </a:lnTo>
                  <a:lnTo>
                    <a:pt x="1020394" y="532055"/>
                  </a:lnTo>
                  <a:cubicBezTo>
                    <a:pt x="990222" y="525109"/>
                    <a:pt x="958982" y="521461"/>
                    <a:pt x="926985" y="521461"/>
                  </a:cubicBezTo>
                  <a:cubicBezTo>
                    <a:pt x="671005" y="521461"/>
                    <a:pt x="463493" y="754927"/>
                    <a:pt x="463492" y="1042921"/>
                  </a:cubicBezTo>
                  <a:lnTo>
                    <a:pt x="0" y="1042921"/>
                  </a:lnTo>
                  <a:cubicBezTo>
                    <a:pt x="0" y="466932"/>
                    <a:pt x="415025" y="0"/>
                    <a:pt x="926984" y="0"/>
                  </a:cubicBezTo>
                  <a:cubicBezTo>
                    <a:pt x="958982" y="0"/>
                    <a:pt x="990600" y="1824"/>
                    <a:pt x="1021763" y="5384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94664AE-6DC5-428F-9AC4-5A8F67571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288F304-7DF7-42FB-BD6F-D575128A1DDE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04835D9-7DE9-4DDD-A6C2-1C526822700A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3C43C1C-00B3-40E0-B073-B8C56206D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6258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417263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7148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7340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r>
              <a:rPr lang="en-US"/>
              <a:t>Tuesday, February 2,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328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EFE597-4AF2-7EC0-FA12-78219D78A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5907A9-AF23-9134-87AD-A80DF9046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8ECA5-4FBB-AF3D-2104-D9349B2032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48AD20-2CA6-4218-B37F-970FFB4A3086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3A0BB-8095-C9D3-B23B-E10E2A2CE7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14B99-1525-9C37-BCEA-A4CF7CB93D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A7C42B-5492-47E2-9B8F-72C04F2B42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867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r>
              <a:rPr lang="en-US"/>
              <a:t>Tuesday, February 2,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lumMod val="65000"/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0966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0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microsoft.com/office/2007/relationships/hdphoto" Target="../media/hdphoto2.wd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microsoft.com/office/2007/relationships/hdphoto" Target="../media/hdphoto3.wd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microsoft.com/office/2007/relationships/hdphoto" Target="../media/hdphoto4.wdp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.jpeg"/><Relationship Id="rId4" Type="http://schemas.microsoft.com/office/2007/relationships/hdphoto" Target="../media/hdphoto5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microsoft.com/office/2007/relationships/hdphoto" Target="../media/hdphoto6.wd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microsoft.com/office/2007/relationships/hdphoto" Target="../media/hdphoto7.wdp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microsoft.com/office/2007/relationships/hdphoto" Target="../media/hdphoto8.wdp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microsoft.com/office/2007/relationships/hdphoto" Target="../media/hdphoto7.wdp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microsoft.com/office/2007/relationships/hdphoto" Target="../media/hdphoto8.wdp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microsoft.com/office/2007/relationships/hdphoto" Target="../media/hdphoto9.wdp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microsoft.com/office/2007/relationships/hdphoto" Target="../media/hdphoto10.wdp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microsoft.com/office/2007/relationships/hdphoto" Target="../media/hdphoto11.wdp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5" Type="http://schemas.microsoft.com/office/2007/relationships/hdphoto" Target="../media/hdphoto12.wdp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5" Type="http://schemas.microsoft.com/office/2007/relationships/hdphoto" Target="../media/hdphoto13.wdp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microsoft.com/office/2007/relationships/hdphoto" Target="../media/hdphoto15.wdp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microsoft.com/office/2007/relationships/hdphoto" Target="../media/hdphoto14.wdp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microsoft.com/office/2007/relationships/hdphoto" Target="../media/hdphoto2.wdp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5" Type="http://schemas.microsoft.com/office/2007/relationships/hdphoto" Target="../media/hdphoto16.wdp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5" Type="http://schemas.microsoft.com/office/2007/relationships/hdphoto" Target="../media/hdphoto16.wdp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5" Type="http://schemas.microsoft.com/office/2007/relationships/hdphoto" Target="../media/hdphoto17.wdp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jpeg"/><Relationship Id="rId7" Type="http://schemas.microsoft.com/office/2007/relationships/hdphoto" Target="../media/hdphoto19.wdp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png"/><Relationship Id="rId5" Type="http://schemas.microsoft.com/office/2007/relationships/hdphoto" Target="../media/hdphoto18.wdp"/><Relationship Id="rId4" Type="http://schemas.openxmlformats.org/officeDocument/2006/relationships/image" Target="../media/image20.png"/><Relationship Id="rId9" Type="http://schemas.microsoft.com/office/2007/relationships/hdphoto" Target="../media/hdphoto20.wdp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jpeg"/><Relationship Id="rId7" Type="http://schemas.microsoft.com/office/2007/relationships/hdphoto" Target="../media/hdphoto19.wdp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png"/><Relationship Id="rId11" Type="http://schemas.microsoft.com/office/2007/relationships/hdphoto" Target="../media/hdphoto21.wdp"/><Relationship Id="rId5" Type="http://schemas.microsoft.com/office/2007/relationships/hdphoto" Target="../media/hdphoto18.wdp"/><Relationship Id="rId10" Type="http://schemas.openxmlformats.org/officeDocument/2006/relationships/image" Target="../media/image23.png"/><Relationship Id="rId4" Type="http://schemas.openxmlformats.org/officeDocument/2006/relationships/image" Target="../media/image20.png"/><Relationship Id="rId9" Type="http://schemas.microsoft.com/office/2007/relationships/hdphoto" Target="../media/hdphoto20.wdp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jpeg"/><Relationship Id="rId7" Type="http://schemas.microsoft.com/office/2007/relationships/hdphoto" Target="../media/hdphoto19.wdp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png"/><Relationship Id="rId5" Type="http://schemas.microsoft.com/office/2007/relationships/hdphoto" Target="../media/hdphoto18.wdp"/><Relationship Id="rId10" Type="http://schemas.openxmlformats.org/officeDocument/2006/relationships/image" Target="../media/image24.png"/><Relationship Id="rId4" Type="http://schemas.openxmlformats.org/officeDocument/2006/relationships/image" Target="../media/image20.png"/><Relationship Id="rId9" Type="http://schemas.microsoft.com/office/2007/relationships/hdphoto" Target="../media/hdphoto20.wdp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blog.logrocket.com/flutter-redux-complete-tutorial-with-examples" TargetMode="External"/><Relationship Id="rId3" Type="http://schemas.openxmlformats.org/officeDocument/2006/relationships/image" Target="../media/image2.jpeg"/><Relationship Id="rId7" Type="http://schemas.openxmlformats.org/officeDocument/2006/relationships/hyperlink" Target="https://pub.dev/documentation/redux/latest/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redux.js.org/understanding/history-and-design/middleware" TargetMode="External"/><Relationship Id="rId5" Type="http://schemas.openxmlformats.org/officeDocument/2006/relationships/hyperlink" Target="https://redux.js.org/tutorials/essentials/part-1-overview-concepts" TargetMode="External"/><Relationship Id="rId4" Type="http://schemas.openxmlformats.org/officeDocument/2006/relationships/hyperlink" Target="https://redux.js.org/usage/implementing-undo-history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9440" r="1944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102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911379A-9783-C56B-234A-95BAC96B84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95FF0E8-80F7-AA83-8870-B750B9965345}"/>
              </a:ext>
            </a:extLst>
          </p:cNvPr>
          <p:cNvSpPr txBox="1">
            <a:spLocks/>
          </p:cNvSpPr>
          <p:nvPr/>
        </p:nvSpPr>
        <p:spPr>
          <a:xfrm>
            <a:off x="1136915" y="335889"/>
            <a:ext cx="3355800" cy="411471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8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TRƯỜNG ĐẠI HỌC BÁCH KHOA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9E8EEE8-2DB9-047A-7F17-F5268F387009}"/>
              </a:ext>
            </a:extLst>
          </p:cNvPr>
          <p:cNvSpPr txBox="1">
            <a:spLocks/>
          </p:cNvSpPr>
          <p:nvPr/>
        </p:nvSpPr>
        <p:spPr>
          <a:xfrm>
            <a:off x="1612333" y="2102821"/>
            <a:ext cx="9292040" cy="1637808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err="1">
                <a:ln>
                  <a:noFill/>
                </a:ln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Đề</a:t>
            </a:r>
            <a:r>
              <a:rPr kumimoji="0" lang="en-US" sz="4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4400" b="1" i="0" u="none" strike="noStrike" kern="1200" cap="none" spc="0" normalizeH="0" baseline="0" noProof="0" err="1">
                <a:ln>
                  <a:noFill/>
                </a:ln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tài</a:t>
            </a:r>
            <a:r>
              <a:rPr kumimoji="0" lang="en-US" sz="44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Redux Pattern trong Flutter</a:t>
            </a:r>
            <a:endParaRPr kumimoji="0" lang="vi-VN" sz="4400" b="1" i="0" u="none" strike="noStrike" kern="1200" cap="none" spc="0" normalizeH="0" baseline="0" noProof="0">
              <a:ln>
                <a:noFill/>
              </a:ln>
              <a:solidFill>
                <a:srgbClr val="0000CC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20000" endPos="45500" dir="5400000" sy="-100000" algn="bl" rotWithShape="0"/>
              </a:effectLst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1F0FA32-AC66-869C-BC23-DC047C397F0F}"/>
              </a:ext>
            </a:extLst>
          </p:cNvPr>
          <p:cNvSpPr txBox="1">
            <a:spLocks/>
          </p:cNvSpPr>
          <p:nvPr/>
        </p:nvSpPr>
        <p:spPr>
          <a:xfrm>
            <a:off x="1136915" y="105829"/>
            <a:ext cx="2063487" cy="38219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800" b="1" i="0" u="none" strike="noStrike" kern="1200" cap="none" spc="0" normalizeH="0" baseline="0" noProof="0">
                <a:ln>
                  <a:noFill/>
                </a:ln>
                <a:solidFill>
                  <a:srgbClr val="616163"/>
                </a:solidFill>
                <a:effectLst>
                  <a:outerShdw blurRad="50800" dist="38100" dir="2700000" algn="tl" rotWithShape="0">
                    <a:prstClr val="black">
                      <a:alpha val="20000"/>
                    </a:prstClr>
                  </a:outerShdw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ĐẠI HỌC ĐÀ NẴNG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616163"/>
              </a:solidFill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Tải mẫu logo trường đại học Bách Khoa Đà Nẵng (DUT) file ...">
            <a:extLst>
              <a:ext uri="{FF2B5EF4-FFF2-40B4-BE49-F238E27FC236}">
                <a16:creationId xmlns:a16="http://schemas.microsoft.com/office/drawing/2014/main" id="{DC90530D-1DB1-3167-5CA9-EB798B77E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51" y="136311"/>
            <a:ext cx="963164" cy="96316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9E8EEE8-2DB9-047A-7F17-F5268F387009}"/>
              </a:ext>
            </a:extLst>
          </p:cNvPr>
          <p:cNvSpPr txBox="1">
            <a:spLocks/>
          </p:cNvSpPr>
          <p:nvPr/>
        </p:nvSpPr>
        <p:spPr>
          <a:xfrm>
            <a:off x="1221961" y="728923"/>
            <a:ext cx="3127764" cy="41147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800" b="1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KHOA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ĐIỆN TỬ - VIỄN THÔNG</a:t>
            </a:r>
            <a:endParaRPr kumimoji="0" lang="vi-VN" sz="1800" b="1" i="0" u="none" strike="noStrike" kern="1200" cap="none" spc="0" normalizeH="0" baseline="0" noProof="0">
              <a:ln>
                <a:noFill/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8EDE71-E52E-8725-EFC5-A6F2CE64927E}"/>
              </a:ext>
            </a:extLst>
          </p:cNvPr>
          <p:cNvSpPr txBox="1">
            <a:spLocks/>
          </p:cNvSpPr>
          <p:nvPr/>
        </p:nvSpPr>
        <p:spPr>
          <a:xfrm>
            <a:off x="2270803" y="1337295"/>
            <a:ext cx="7975100" cy="729253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CD1D1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Học </a:t>
            </a:r>
            <a:r>
              <a:rPr kumimoji="0" lang="en-US" sz="3600" b="1" i="0" u="none" strike="noStrike" kern="1200" cap="none" spc="0" normalizeH="0" baseline="0" noProof="0" err="1">
                <a:ln>
                  <a:noFill/>
                </a:ln>
                <a:solidFill>
                  <a:srgbClr val="CD1D1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phần</a:t>
            </a:r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CD1D1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Lập trình đa nền tảng</a:t>
            </a:r>
            <a:endParaRPr kumimoji="0" lang="vi-VN" sz="3600" b="1" i="0" u="none" strike="noStrike" kern="1200" cap="none" spc="0" normalizeH="0" baseline="0" noProof="0">
              <a:ln>
                <a:noFill/>
              </a:ln>
              <a:solidFill>
                <a:srgbClr val="CD1D1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20000" endPos="45500" dir="5400000" sy="-100000" algn="bl" rotWithShape="0"/>
              </a:effectLst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41B6560-5BF1-5287-52D9-FDFE215D4489}"/>
              </a:ext>
            </a:extLst>
          </p:cNvPr>
          <p:cNvSpPr txBox="1">
            <a:spLocks/>
          </p:cNvSpPr>
          <p:nvPr/>
        </p:nvSpPr>
        <p:spPr>
          <a:xfrm>
            <a:off x="655333" y="4292908"/>
            <a:ext cx="9066486" cy="2571241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Giảng viên hướng dẫn : </a:t>
            </a:r>
            <a:r>
              <a:rPr kumimoji="0" lang="en-US" sz="24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TS. Nguyễn Duy Nhật Viễn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20000" endPos="45500" dir="5400000" sy="-100000" algn="bl" rotWithShape="0"/>
              </a:effectLst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ớp học phần 22.44 </a:t>
            </a:r>
            <a:r>
              <a:rPr kumimoji="0" lang="vi-VN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– </a:t>
            </a:r>
            <a:r>
              <a:rPr kumimoji="0" lang="vi-VN" sz="24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</a:t>
            </a:r>
            <a:r>
              <a:rPr kumimoji="0" lang="en-US" sz="24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hóm: Bản – Huy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	     </a:t>
            </a:r>
            <a:r>
              <a:rPr kumimoji="0" lang="en-US" sz="24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Lê Thanh Bản                  - 106220209</a:t>
            </a:r>
          </a:p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			     Lưu Văn Thành Huy     - 106220218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i="0" u="none" strike="noStrike" kern="1200" cap="none" spc="0" normalizeH="0" baseline="0" noProof="0">
              <a:ln>
                <a:noFill/>
              </a:ln>
              <a:solidFill>
                <a:srgbClr val="CD1D1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20000" endPos="45500" dir="5400000" sy="-100000" algn="bl" rotWithShape="0"/>
              </a:effectLst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vi-VN" sz="2200" b="1" i="0" u="none" strike="noStrike" kern="1200" cap="none" spc="0" normalizeH="0" baseline="0" noProof="0">
              <a:ln>
                <a:noFill/>
              </a:ln>
              <a:solidFill>
                <a:srgbClr val="616163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20000" endPos="45500" dir="5400000" sy="-100000" algn="bl" rotWithShape="0"/>
              </a:effectLst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A000D-671F-6097-4572-AA53B4EADEE3}"/>
              </a:ext>
            </a:extLst>
          </p:cNvPr>
          <p:cNvSpPr txBox="1">
            <a:spLocks/>
          </p:cNvSpPr>
          <p:nvPr/>
        </p:nvSpPr>
        <p:spPr>
          <a:xfrm>
            <a:off x="11339814" y="6521726"/>
            <a:ext cx="2628900" cy="1538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6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PAGE </a:t>
            </a:r>
            <a:r>
              <a:rPr lang="en-US" sz="1600" b="1">
                <a:solidFill>
                  <a:prstClr val="black">
                    <a:alpha val="80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black">
                  <a:alpha val="80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2814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7745FC9-39EF-D3FD-F505-8C0944CD9D44}"/>
              </a:ext>
            </a:extLst>
          </p:cNvPr>
          <p:cNvSpPr/>
          <p:nvPr/>
        </p:nvSpPr>
        <p:spPr>
          <a:xfrm>
            <a:off x="-1" y="0"/>
            <a:ext cx="12192001" cy="68727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9E8EEE8-2DB9-047A-7F17-F5268F387009}"/>
              </a:ext>
            </a:extLst>
          </p:cNvPr>
          <p:cNvSpPr txBox="1">
            <a:spLocks/>
          </p:cNvSpPr>
          <p:nvPr/>
        </p:nvSpPr>
        <p:spPr>
          <a:xfrm>
            <a:off x="1618497" y="985249"/>
            <a:ext cx="7778496" cy="1879261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endParaRPr lang="vi-VN" sz="4400" b="1"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20000" endPos="45500" dir="5400000" sy="-100000" algn="bl" rotWithShape="0"/>
              </a:effectLst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6023D0-31B5-CFBD-9011-904BECB45C27}"/>
              </a:ext>
            </a:extLst>
          </p:cNvPr>
          <p:cNvSpPr txBox="1">
            <a:spLocks/>
          </p:cNvSpPr>
          <p:nvPr/>
        </p:nvSpPr>
        <p:spPr>
          <a:xfrm>
            <a:off x="1492778" y="1126475"/>
            <a:ext cx="9312407" cy="1637808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4400" b="1" err="1"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Đề</a:t>
            </a:r>
            <a:r>
              <a:rPr lang="en-US" sz="4400" b="1"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err="1"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tài</a:t>
            </a:r>
            <a:r>
              <a:rPr lang="en-US" sz="4400" b="1"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Redux Pattern trong Flutter</a:t>
            </a:r>
            <a:endParaRPr lang="vi-VN" sz="4400" b="1">
              <a:solidFill>
                <a:srgbClr val="0000CC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20000" endPos="45500" dir="5400000" sy="-100000" algn="bl" rotWithShape="0"/>
              </a:effectLst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210F029-1BBC-650D-93D5-C4098CD84D3D}"/>
              </a:ext>
            </a:extLst>
          </p:cNvPr>
          <p:cNvSpPr txBox="1">
            <a:spLocks/>
          </p:cNvSpPr>
          <p:nvPr/>
        </p:nvSpPr>
        <p:spPr>
          <a:xfrm>
            <a:off x="11310785" y="6554840"/>
            <a:ext cx="2628900" cy="1538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PAGE </a:t>
            </a:r>
            <a:r>
              <a:rPr lang="en-US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F174C0B-2869-FE3D-A7BA-9A6B2E691DB0}"/>
              </a:ext>
            </a:extLst>
          </p:cNvPr>
          <p:cNvSpPr txBox="1">
            <a:spLocks/>
          </p:cNvSpPr>
          <p:nvPr/>
        </p:nvSpPr>
        <p:spPr>
          <a:xfrm>
            <a:off x="756830" y="2084724"/>
            <a:ext cx="10784301" cy="43708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b="1">
              <a:solidFill>
                <a:srgbClr val="61616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1. </a:t>
            </a:r>
            <a:r>
              <a:rPr lang="en-US" sz="2400" b="1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Giới</a:t>
            </a:r>
            <a:r>
              <a:rPr 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thiệu tổng quan </a:t>
            </a:r>
          </a:p>
          <a:p>
            <a:pPr marL="0" indent="0">
              <a:buNone/>
            </a:pPr>
            <a:r>
              <a:rPr 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2. Store, Actions, Reducers concepts</a:t>
            </a:r>
          </a:p>
          <a:p>
            <a:pPr marL="0" indent="0">
              <a:buNone/>
            </a:pPr>
            <a:r>
              <a:rPr 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3. StoreConnector và StoreBuilder</a:t>
            </a:r>
          </a:p>
          <a:p>
            <a:pPr marL="0" indent="0">
              <a:buNone/>
            </a:pPr>
            <a:r>
              <a:rPr 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4. Middleware và side effects</a:t>
            </a:r>
          </a:p>
          <a:p>
            <a:pPr marL="0" indent="0">
              <a:buNone/>
            </a:pPr>
            <a:r>
              <a:rPr 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5. Time-travel debugging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4528537-CA55-2F21-ED21-05DF225BC7F2}"/>
              </a:ext>
            </a:extLst>
          </p:cNvPr>
          <p:cNvSpPr txBox="1">
            <a:spLocks/>
          </p:cNvSpPr>
          <p:nvPr/>
        </p:nvSpPr>
        <p:spPr>
          <a:xfrm>
            <a:off x="1136915" y="335889"/>
            <a:ext cx="3355800" cy="411471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8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TRƯỜNG ĐẠI HỌC BÁCH KHOA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CC56A843-D7D3-361C-A3ED-654F52FEAF71}"/>
              </a:ext>
            </a:extLst>
          </p:cNvPr>
          <p:cNvSpPr txBox="1">
            <a:spLocks/>
          </p:cNvSpPr>
          <p:nvPr/>
        </p:nvSpPr>
        <p:spPr>
          <a:xfrm>
            <a:off x="1136915" y="105829"/>
            <a:ext cx="2063487" cy="38219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800" b="1" i="0" u="none" strike="noStrike" kern="1200" cap="none" spc="0" normalizeH="0" baseline="0" noProof="0">
                <a:ln>
                  <a:noFill/>
                </a:ln>
                <a:solidFill>
                  <a:srgbClr val="616163"/>
                </a:solidFill>
                <a:effectLst>
                  <a:outerShdw blurRad="50800" dist="38100" dir="2700000" algn="tl" rotWithShape="0">
                    <a:prstClr val="black">
                      <a:alpha val="20000"/>
                    </a:prstClr>
                  </a:outerShdw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ĐẠI HỌC ĐÀ NẴNG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616163"/>
              </a:solidFill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4" descr="Tải mẫu logo trường đại học Bách Khoa Đà Nẵng (DUT) file ...">
            <a:extLst>
              <a:ext uri="{FF2B5EF4-FFF2-40B4-BE49-F238E27FC236}">
                <a16:creationId xmlns:a16="http://schemas.microsoft.com/office/drawing/2014/main" id="{7DC84BEA-0F82-FE46-BC6A-8D8F3E33CA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51" y="136311"/>
            <a:ext cx="963164" cy="96316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499BE751-8777-31BE-0D43-44D73DB69BD9}"/>
              </a:ext>
            </a:extLst>
          </p:cNvPr>
          <p:cNvSpPr txBox="1">
            <a:spLocks/>
          </p:cNvSpPr>
          <p:nvPr/>
        </p:nvSpPr>
        <p:spPr>
          <a:xfrm>
            <a:off x="1221961" y="728923"/>
            <a:ext cx="3127764" cy="41147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800" b="1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KHOA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ĐIỆN TỬ - VIỄN THÔNG</a:t>
            </a:r>
            <a:endParaRPr kumimoji="0" lang="vi-VN" sz="1800" b="1" i="0" u="none" strike="noStrike" kern="1200" cap="none" spc="0" normalizeH="0" baseline="0" noProof="0">
              <a:ln>
                <a:noFill/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1229998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7914D-0D1B-3D1C-04C7-713E66705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CEDF84C-E15B-BDB2-5045-3A7635165593}"/>
              </a:ext>
            </a:extLst>
          </p:cNvPr>
          <p:cNvSpPr/>
          <p:nvPr/>
        </p:nvSpPr>
        <p:spPr>
          <a:xfrm>
            <a:off x="-1" y="0"/>
            <a:ext cx="12192001" cy="68727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74C741A-6EAB-5D79-FCF5-6D57A39CAD39}"/>
              </a:ext>
            </a:extLst>
          </p:cNvPr>
          <p:cNvSpPr txBox="1">
            <a:spLocks/>
          </p:cNvSpPr>
          <p:nvPr/>
        </p:nvSpPr>
        <p:spPr>
          <a:xfrm>
            <a:off x="1618497" y="985249"/>
            <a:ext cx="7778496" cy="1879261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endParaRPr lang="vi-VN" sz="4400" b="1"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20000" endPos="45500" dir="5400000" sy="-100000" algn="bl" rotWithShape="0"/>
              </a:effectLst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6D6C27-CA20-31C4-4DED-BF7EC0625E88}"/>
              </a:ext>
            </a:extLst>
          </p:cNvPr>
          <p:cNvSpPr txBox="1">
            <a:spLocks/>
          </p:cNvSpPr>
          <p:nvPr/>
        </p:nvSpPr>
        <p:spPr>
          <a:xfrm>
            <a:off x="1492778" y="1126475"/>
            <a:ext cx="9312407" cy="1637808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4400" b="1" err="1"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Đề</a:t>
            </a:r>
            <a:r>
              <a:rPr lang="en-US" sz="4400" b="1"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err="1"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tài</a:t>
            </a:r>
            <a:r>
              <a:rPr lang="en-US" sz="4400" b="1"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Redux Pattern trong Flutter</a:t>
            </a:r>
            <a:endParaRPr lang="vi-VN" sz="4400" b="1">
              <a:solidFill>
                <a:srgbClr val="0000CC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20000" endPos="45500" dir="5400000" sy="-100000" algn="bl" rotWithShape="0"/>
              </a:effectLst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532EF0C-596C-490C-3B92-F2F50E73D347}"/>
              </a:ext>
            </a:extLst>
          </p:cNvPr>
          <p:cNvSpPr txBox="1">
            <a:spLocks/>
          </p:cNvSpPr>
          <p:nvPr/>
        </p:nvSpPr>
        <p:spPr>
          <a:xfrm>
            <a:off x="11310785" y="6554840"/>
            <a:ext cx="2628900" cy="1538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PAGE </a:t>
            </a:r>
            <a:r>
              <a:rPr lang="en-US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2D1D059-4367-B18E-B8DC-3D6BB231C3EA}"/>
              </a:ext>
            </a:extLst>
          </p:cNvPr>
          <p:cNvSpPr txBox="1">
            <a:spLocks/>
          </p:cNvSpPr>
          <p:nvPr/>
        </p:nvSpPr>
        <p:spPr>
          <a:xfrm>
            <a:off x="756830" y="2084724"/>
            <a:ext cx="10784301" cy="43708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b="1">
              <a:solidFill>
                <a:srgbClr val="61616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1. </a:t>
            </a:r>
            <a:r>
              <a:rPr lang="en-US" sz="2400" b="1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Giới</a:t>
            </a:r>
            <a:r>
              <a:rPr 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thiệu tổng quan </a:t>
            </a:r>
          </a:p>
          <a:p>
            <a:pPr marL="0" indent="0">
              <a:buNone/>
            </a:pPr>
            <a:r>
              <a:rPr lang="en-US" sz="2400" b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2. Store, Actions, Reducers concepts</a:t>
            </a:r>
          </a:p>
          <a:p>
            <a:pPr marL="0" indent="0">
              <a:buNone/>
            </a:pPr>
            <a:r>
              <a:rPr lang="en-US" sz="2400" b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3. StoreConnector và StoreBuilder</a:t>
            </a:r>
          </a:p>
          <a:p>
            <a:pPr marL="0" indent="0">
              <a:buNone/>
            </a:pPr>
            <a:r>
              <a:rPr lang="en-US" sz="2400" b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4. Middleware và side effects</a:t>
            </a:r>
          </a:p>
          <a:p>
            <a:pPr marL="0" indent="0">
              <a:buNone/>
            </a:pPr>
            <a:r>
              <a:rPr lang="en-US" sz="2400" b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5. Time-travel debugging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1971D74-6438-1ECE-BEC7-65A4DBB307E2}"/>
              </a:ext>
            </a:extLst>
          </p:cNvPr>
          <p:cNvSpPr txBox="1">
            <a:spLocks/>
          </p:cNvSpPr>
          <p:nvPr/>
        </p:nvSpPr>
        <p:spPr>
          <a:xfrm>
            <a:off x="1136915" y="335889"/>
            <a:ext cx="3355800" cy="411471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8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TRƯỜNG ĐẠI HỌC BÁCH KHOA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8ECAC52-B42C-929E-AB0E-F42B7111BCA3}"/>
              </a:ext>
            </a:extLst>
          </p:cNvPr>
          <p:cNvSpPr txBox="1">
            <a:spLocks/>
          </p:cNvSpPr>
          <p:nvPr/>
        </p:nvSpPr>
        <p:spPr>
          <a:xfrm>
            <a:off x="1136915" y="105829"/>
            <a:ext cx="2063487" cy="38219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800" b="1" i="0" u="none" strike="noStrike" kern="1200" cap="none" spc="0" normalizeH="0" baseline="0" noProof="0">
                <a:ln>
                  <a:noFill/>
                </a:ln>
                <a:solidFill>
                  <a:srgbClr val="616163"/>
                </a:solidFill>
                <a:effectLst>
                  <a:outerShdw blurRad="50800" dist="38100" dir="2700000" algn="tl" rotWithShape="0">
                    <a:prstClr val="black">
                      <a:alpha val="20000"/>
                    </a:prstClr>
                  </a:outerShdw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ĐẠI HỌC ĐÀ NẴNG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616163"/>
              </a:solidFill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4" descr="Tải mẫu logo trường đại học Bách Khoa Đà Nẵng (DUT) file ...">
            <a:extLst>
              <a:ext uri="{FF2B5EF4-FFF2-40B4-BE49-F238E27FC236}">
                <a16:creationId xmlns:a16="http://schemas.microsoft.com/office/drawing/2014/main" id="{D59A1237-36F6-B265-3091-BFE35597A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51" y="136311"/>
            <a:ext cx="963164" cy="96316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E9CFF88F-69B3-BF83-506E-9924B9DF568E}"/>
              </a:ext>
            </a:extLst>
          </p:cNvPr>
          <p:cNvSpPr txBox="1">
            <a:spLocks/>
          </p:cNvSpPr>
          <p:nvPr/>
        </p:nvSpPr>
        <p:spPr>
          <a:xfrm>
            <a:off x="1221961" y="728923"/>
            <a:ext cx="3127764" cy="41147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800" b="1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KHOA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ĐIỆN TỬ - VIỄN THÔNG</a:t>
            </a:r>
            <a:endParaRPr kumimoji="0" lang="vi-VN" sz="1800" b="1" i="0" u="none" strike="noStrike" kern="1200" cap="none" spc="0" normalizeH="0" baseline="0" noProof="0">
              <a:ln>
                <a:noFill/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0070932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C233F-5104-B589-5EA2-D51232FA9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57982D4-A34E-D4FE-AE26-FE1AE3034F1B}"/>
              </a:ext>
            </a:extLst>
          </p:cNvPr>
          <p:cNvSpPr/>
          <p:nvPr/>
        </p:nvSpPr>
        <p:spPr>
          <a:xfrm>
            <a:off x="-1" y="0"/>
            <a:ext cx="12192001" cy="68727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EFB6AE8-2684-5F3D-E135-5302BFF21D1D}"/>
              </a:ext>
            </a:extLst>
          </p:cNvPr>
          <p:cNvSpPr txBox="1">
            <a:spLocks/>
          </p:cNvSpPr>
          <p:nvPr/>
        </p:nvSpPr>
        <p:spPr>
          <a:xfrm>
            <a:off x="11397871" y="6550755"/>
            <a:ext cx="2628900" cy="1538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PAGE </a:t>
            </a:r>
            <a:r>
              <a:rPr lang="en-US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</a:p>
        </p:txBody>
      </p:sp>
      <p:sp>
        <p:nvSpPr>
          <p:cNvPr id="7" name="Title 10">
            <a:extLst>
              <a:ext uri="{FF2B5EF4-FFF2-40B4-BE49-F238E27FC236}">
                <a16:creationId xmlns:a16="http://schemas.microsoft.com/office/drawing/2014/main" id="{D9F6073F-F3FA-D968-F2E4-6B060F18E49F}"/>
              </a:ext>
            </a:extLst>
          </p:cNvPr>
          <p:cNvSpPr txBox="1">
            <a:spLocks/>
          </p:cNvSpPr>
          <p:nvPr/>
        </p:nvSpPr>
        <p:spPr>
          <a:xfrm>
            <a:off x="812381" y="0"/>
            <a:ext cx="10907670" cy="64422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1.</a:t>
            </a:r>
            <a:r>
              <a:rPr lang="en-US" sz="40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Giới thiệu tổng quan</a:t>
            </a:r>
            <a:endParaRPr lang="en-US" sz="3200" b="1">
              <a:solidFill>
                <a:srgbClr val="CD1D1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Picture 4" descr="Tải mẫu logo trường đại học Bách Khoa Đà Nẵng (DUT) file ...">
            <a:extLst>
              <a:ext uri="{FF2B5EF4-FFF2-40B4-BE49-F238E27FC236}">
                <a16:creationId xmlns:a16="http://schemas.microsoft.com/office/drawing/2014/main" id="{0EEBD8BE-736F-0ADF-3389-87FD3DC2AE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51" y="136311"/>
            <a:ext cx="464878" cy="46487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E69E17-AB61-0CE6-BB36-C05215463F44}"/>
              </a:ext>
            </a:extLst>
          </p:cNvPr>
          <p:cNvSpPr txBox="1"/>
          <p:nvPr/>
        </p:nvSpPr>
        <p:spPr>
          <a:xfrm>
            <a:off x="642164" y="1548581"/>
            <a:ext cx="10907669" cy="334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Redux</a:t>
            </a:r>
            <a:r>
              <a:rPr lang="en-US" sz="24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l</a:t>
            </a:r>
            <a:r>
              <a:rPr lang="vi-VN" sz="24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à một thư viện quản lý trạng thái toàn cục, dựa trên mô hình Flux</a:t>
            </a:r>
            <a:r>
              <a:rPr lang="en-US" sz="24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vi-VN" sz="24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Trạng thái của ứng dụng được lưu trong một Store duy nhất.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Các thay đổi trạng thái được thực hiện thông qua các Action.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Các Reducer sẽ xử lý các action này để cập nhật trạng thái mới.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vi-VN" sz="24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Giúp quản lý trạng thái một cách rõ ràng và dễ kiểm soát, đặc biệt trong các</a:t>
            </a:r>
            <a:r>
              <a:rPr lang="en-US" sz="24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24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ứng dụng lớn.</a:t>
            </a:r>
            <a:endParaRPr lang="en-US" sz="24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384500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6E5B2-7D07-244D-7641-593BD6F85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F9ED472-088D-D7C1-32D3-2AE5796D52B0}"/>
              </a:ext>
            </a:extLst>
          </p:cNvPr>
          <p:cNvSpPr/>
          <p:nvPr/>
        </p:nvSpPr>
        <p:spPr>
          <a:xfrm>
            <a:off x="-1" y="0"/>
            <a:ext cx="12192001" cy="68727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E20D675-237E-42D4-E084-93E6D6A86068}"/>
              </a:ext>
            </a:extLst>
          </p:cNvPr>
          <p:cNvSpPr txBox="1">
            <a:spLocks/>
          </p:cNvSpPr>
          <p:nvPr/>
        </p:nvSpPr>
        <p:spPr>
          <a:xfrm>
            <a:off x="11397871" y="6550755"/>
            <a:ext cx="2628900" cy="1538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PAGE </a:t>
            </a:r>
            <a:r>
              <a:rPr lang="en-US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</a:p>
        </p:txBody>
      </p:sp>
      <p:sp>
        <p:nvSpPr>
          <p:cNvPr id="7" name="Title 10">
            <a:extLst>
              <a:ext uri="{FF2B5EF4-FFF2-40B4-BE49-F238E27FC236}">
                <a16:creationId xmlns:a16="http://schemas.microsoft.com/office/drawing/2014/main" id="{5FBF7AB2-1894-4E5D-C452-26566DE91017}"/>
              </a:ext>
            </a:extLst>
          </p:cNvPr>
          <p:cNvSpPr txBox="1">
            <a:spLocks/>
          </p:cNvSpPr>
          <p:nvPr/>
        </p:nvSpPr>
        <p:spPr>
          <a:xfrm>
            <a:off x="812381" y="0"/>
            <a:ext cx="10907670" cy="64422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1.</a:t>
            </a:r>
            <a:r>
              <a:rPr lang="en-US" sz="40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Giới thiệu tổng quan</a:t>
            </a:r>
            <a:endParaRPr lang="en-US" sz="3200" b="1">
              <a:solidFill>
                <a:srgbClr val="CD1D1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Picture 4" descr="Tải mẫu logo trường đại học Bách Khoa Đà Nẵng (DUT) file ...">
            <a:extLst>
              <a:ext uri="{FF2B5EF4-FFF2-40B4-BE49-F238E27FC236}">
                <a16:creationId xmlns:a16="http://schemas.microsoft.com/office/drawing/2014/main" id="{BF4BB5D0-689F-8520-3F99-1437D1FAD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51" y="136311"/>
            <a:ext cx="464878" cy="46487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2E92E3-B915-C260-3477-169B8C28AA70}"/>
              </a:ext>
            </a:extLst>
          </p:cNvPr>
          <p:cNvSpPr txBox="1"/>
          <p:nvPr/>
        </p:nvSpPr>
        <p:spPr>
          <a:xfrm>
            <a:off x="642164" y="1193733"/>
            <a:ext cx="10907669" cy="445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vi-VN" sz="24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Luồng dữ liệu trong Redux</a:t>
            </a:r>
            <a:r>
              <a:rPr lang="en-US" sz="24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vi-VN" sz="2400" b="1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- M</a:t>
            </a:r>
            <a:r>
              <a:rPr lang="vi-VN" sz="24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ô tả luồng xử lý:</a:t>
            </a:r>
          </a:p>
          <a:p>
            <a:pPr algn="just">
              <a:lnSpc>
                <a:spcPct val="150000"/>
              </a:lnSpc>
            </a:pPr>
            <a:r>
              <a:rPr lang="en-US" sz="24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</a:t>
            </a:r>
            <a:r>
              <a:rPr lang="vi-VN" sz="24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UI → dispatch(Action) → Middleware → Reducer → Store → UI</a:t>
            </a:r>
          </a:p>
          <a:p>
            <a:pPr lvl="3" algn="just">
              <a:lnSpc>
                <a:spcPct val="150000"/>
              </a:lnSpc>
            </a:pPr>
            <a:r>
              <a:rPr lang="vi-VN" sz="24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1.	UI gửi Action khi người dùng thao tác.</a:t>
            </a:r>
          </a:p>
          <a:p>
            <a:pPr lvl="3" algn="just">
              <a:lnSpc>
                <a:spcPct val="150000"/>
              </a:lnSpc>
            </a:pPr>
            <a:r>
              <a:rPr lang="vi-VN" sz="24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2.	Middleware xử lý logic phụ (nếu có).</a:t>
            </a:r>
          </a:p>
          <a:p>
            <a:pPr lvl="3" algn="just">
              <a:lnSpc>
                <a:spcPct val="150000"/>
              </a:lnSpc>
            </a:pPr>
            <a:r>
              <a:rPr lang="vi-VN" sz="24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3.	Reducer nhận Action → tạo ra State mới.</a:t>
            </a:r>
          </a:p>
          <a:p>
            <a:pPr lvl="3" algn="just">
              <a:lnSpc>
                <a:spcPct val="150000"/>
              </a:lnSpc>
            </a:pPr>
            <a:r>
              <a:rPr lang="vi-VN" sz="24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4.	Store lưu lại State mới.</a:t>
            </a:r>
          </a:p>
          <a:p>
            <a:pPr lvl="3" algn="just">
              <a:lnSpc>
                <a:spcPct val="150000"/>
              </a:lnSpc>
            </a:pPr>
            <a:r>
              <a:rPr lang="vi-VN" sz="24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5.	UI tự động cập nhật theo State.</a:t>
            </a:r>
          </a:p>
        </p:txBody>
      </p:sp>
    </p:spTree>
    <p:extLst>
      <p:ext uri="{BB962C8B-B14F-4D97-AF65-F5344CB8AC3E}">
        <p14:creationId xmlns:p14="http://schemas.microsoft.com/office/powerpoint/2010/main" val="1137184072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20FB7-C0B6-FA4C-22FB-F05FE4CB3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8098A57-B53C-1C5F-F0B5-15CE49DF4CA7}"/>
              </a:ext>
            </a:extLst>
          </p:cNvPr>
          <p:cNvSpPr/>
          <p:nvPr/>
        </p:nvSpPr>
        <p:spPr>
          <a:xfrm>
            <a:off x="-1" y="0"/>
            <a:ext cx="12192001" cy="68727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27958FD-9BBD-E9AA-00CB-FC511E082698}"/>
              </a:ext>
            </a:extLst>
          </p:cNvPr>
          <p:cNvSpPr txBox="1">
            <a:spLocks/>
          </p:cNvSpPr>
          <p:nvPr/>
        </p:nvSpPr>
        <p:spPr>
          <a:xfrm>
            <a:off x="1618497" y="985249"/>
            <a:ext cx="7778496" cy="1879261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endParaRPr lang="vi-VN" sz="4400" b="1"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20000" endPos="45500" dir="5400000" sy="-100000" algn="bl" rotWithShape="0"/>
              </a:effectLst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AB5FE0-C675-E14D-96B5-419074A31C2E}"/>
              </a:ext>
            </a:extLst>
          </p:cNvPr>
          <p:cNvSpPr txBox="1">
            <a:spLocks/>
          </p:cNvSpPr>
          <p:nvPr/>
        </p:nvSpPr>
        <p:spPr>
          <a:xfrm>
            <a:off x="1492778" y="1126475"/>
            <a:ext cx="9312407" cy="1637808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4400" b="1" err="1"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Đề</a:t>
            </a:r>
            <a:r>
              <a:rPr lang="en-US" sz="4400" b="1"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err="1"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tài</a:t>
            </a:r>
            <a:r>
              <a:rPr lang="en-US" sz="4400" b="1"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Redux Pattern trong Flutter</a:t>
            </a:r>
            <a:endParaRPr lang="vi-VN" sz="4400" b="1">
              <a:solidFill>
                <a:srgbClr val="0000CC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20000" endPos="45500" dir="5400000" sy="-100000" algn="bl" rotWithShape="0"/>
              </a:effectLst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B80B453-6CAF-B92D-55D8-8A937E4EE3C1}"/>
              </a:ext>
            </a:extLst>
          </p:cNvPr>
          <p:cNvSpPr txBox="1">
            <a:spLocks/>
          </p:cNvSpPr>
          <p:nvPr/>
        </p:nvSpPr>
        <p:spPr>
          <a:xfrm>
            <a:off x="11310785" y="6554840"/>
            <a:ext cx="2628900" cy="1538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PAGE </a:t>
            </a:r>
            <a:r>
              <a:rPr lang="en-US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BCD6B69-9228-3704-7E54-58C25C6A10DC}"/>
              </a:ext>
            </a:extLst>
          </p:cNvPr>
          <p:cNvSpPr txBox="1">
            <a:spLocks/>
          </p:cNvSpPr>
          <p:nvPr/>
        </p:nvSpPr>
        <p:spPr>
          <a:xfrm>
            <a:off x="756830" y="2084724"/>
            <a:ext cx="10784301" cy="43708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b="1">
              <a:solidFill>
                <a:srgbClr val="61616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b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1. </a:t>
            </a:r>
            <a:r>
              <a:rPr lang="en-US" sz="2400" b="1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Giới</a:t>
            </a:r>
            <a:r>
              <a:rPr lang="en-US" sz="2400" b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thiệu tổng quan </a:t>
            </a:r>
          </a:p>
          <a:p>
            <a:pPr marL="0" indent="0">
              <a:buNone/>
            </a:pPr>
            <a:r>
              <a:rPr 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2. Store, Actions, Reducers concepts</a:t>
            </a:r>
          </a:p>
          <a:p>
            <a:pPr marL="0" indent="0">
              <a:buNone/>
            </a:pPr>
            <a:r>
              <a:rPr lang="en-US" sz="2400" b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3. StoreConnector và StoreBuilder</a:t>
            </a:r>
          </a:p>
          <a:p>
            <a:pPr marL="0" indent="0">
              <a:buNone/>
            </a:pPr>
            <a:r>
              <a:rPr lang="en-US" sz="2400" b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4. Middleware và side effects</a:t>
            </a:r>
          </a:p>
          <a:p>
            <a:pPr marL="0" indent="0">
              <a:buNone/>
            </a:pPr>
            <a:r>
              <a:rPr lang="en-US" sz="2400" b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5. Time-travel debugging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47D7968-8D79-3F0F-26D2-11B4927C41C6}"/>
              </a:ext>
            </a:extLst>
          </p:cNvPr>
          <p:cNvSpPr txBox="1">
            <a:spLocks/>
          </p:cNvSpPr>
          <p:nvPr/>
        </p:nvSpPr>
        <p:spPr>
          <a:xfrm>
            <a:off x="1136915" y="335889"/>
            <a:ext cx="3355800" cy="411471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8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TRƯỜNG ĐẠI HỌC BÁCH KHOA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0C3539E-229A-1B80-9FE2-0B0CCC886C80}"/>
              </a:ext>
            </a:extLst>
          </p:cNvPr>
          <p:cNvSpPr txBox="1">
            <a:spLocks/>
          </p:cNvSpPr>
          <p:nvPr/>
        </p:nvSpPr>
        <p:spPr>
          <a:xfrm>
            <a:off x="1136915" y="105829"/>
            <a:ext cx="2063487" cy="38219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800" b="1" i="0" u="none" strike="noStrike" kern="1200" cap="none" spc="0" normalizeH="0" baseline="0" noProof="0">
                <a:ln>
                  <a:noFill/>
                </a:ln>
                <a:solidFill>
                  <a:srgbClr val="616163"/>
                </a:solidFill>
                <a:effectLst>
                  <a:outerShdw blurRad="50800" dist="38100" dir="2700000" algn="tl" rotWithShape="0">
                    <a:prstClr val="black">
                      <a:alpha val="20000"/>
                    </a:prstClr>
                  </a:outerShdw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ĐẠI HỌC ĐÀ NẴNG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616163"/>
              </a:solidFill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4" descr="Tải mẫu logo trường đại học Bách Khoa Đà Nẵng (DUT) file ...">
            <a:extLst>
              <a:ext uri="{FF2B5EF4-FFF2-40B4-BE49-F238E27FC236}">
                <a16:creationId xmlns:a16="http://schemas.microsoft.com/office/drawing/2014/main" id="{436A0855-BAE5-7D29-CF47-1AFAF76DF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51" y="136311"/>
            <a:ext cx="963164" cy="96316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4C020A89-107A-FA5E-048B-AB58CF7529C3}"/>
              </a:ext>
            </a:extLst>
          </p:cNvPr>
          <p:cNvSpPr txBox="1">
            <a:spLocks/>
          </p:cNvSpPr>
          <p:nvPr/>
        </p:nvSpPr>
        <p:spPr>
          <a:xfrm>
            <a:off x="1221961" y="728923"/>
            <a:ext cx="3127764" cy="41147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800" b="1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KHOA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ĐIỆN TỬ - VIỄN THÔNG</a:t>
            </a:r>
            <a:endParaRPr kumimoji="0" lang="vi-VN" sz="1800" b="1" i="0" u="none" strike="noStrike" kern="1200" cap="none" spc="0" normalizeH="0" baseline="0" noProof="0">
              <a:ln>
                <a:noFill/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2102835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15E03-E97F-982A-A99C-A892D552A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107EBE7-B805-51A7-2F85-86D112389157}"/>
              </a:ext>
            </a:extLst>
          </p:cNvPr>
          <p:cNvSpPr/>
          <p:nvPr/>
        </p:nvSpPr>
        <p:spPr>
          <a:xfrm>
            <a:off x="-1" y="0"/>
            <a:ext cx="12192001" cy="68727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DE44564-2510-525B-D6EE-869F2E773D8A}"/>
              </a:ext>
            </a:extLst>
          </p:cNvPr>
          <p:cNvSpPr txBox="1">
            <a:spLocks/>
          </p:cNvSpPr>
          <p:nvPr/>
        </p:nvSpPr>
        <p:spPr>
          <a:xfrm>
            <a:off x="11339813" y="6521725"/>
            <a:ext cx="2628900" cy="1538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PAGE </a:t>
            </a:r>
            <a:r>
              <a:rPr lang="en-US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7</a:t>
            </a:r>
          </a:p>
        </p:txBody>
      </p:sp>
      <p:sp>
        <p:nvSpPr>
          <p:cNvPr id="7" name="Title 10">
            <a:extLst>
              <a:ext uri="{FF2B5EF4-FFF2-40B4-BE49-F238E27FC236}">
                <a16:creationId xmlns:a16="http://schemas.microsoft.com/office/drawing/2014/main" id="{255DA0B6-FDE6-18BC-4383-504DDC2FC13C}"/>
              </a:ext>
            </a:extLst>
          </p:cNvPr>
          <p:cNvSpPr txBox="1">
            <a:spLocks/>
          </p:cNvSpPr>
          <p:nvPr/>
        </p:nvSpPr>
        <p:spPr>
          <a:xfrm>
            <a:off x="812381" y="109014"/>
            <a:ext cx="10907670" cy="466973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2.</a:t>
            </a:r>
            <a:r>
              <a:rPr lang="en-US" sz="40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Store, Actions, Reducers concepts</a:t>
            </a:r>
            <a:endParaRPr lang="en-US" sz="3200" b="1">
              <a:solidFill>
                <a:srgbClr val="CD1D1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Picture 4" descr="Tải mẫu logo trường đại học Bách Khoa Đà Nẵng (DUT) file ...">
            <a:extLst>
              <a:ext uri="{FF2B5EF4-FFF2-40B4-BE49-F238E27FC236}">
                <a16:creationId xmlns:a16="http://schemas.microsoft.com/office/drawing/2014/main" id="{902C9EB0-58D0-0688-3A6F-8B104C4974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07" y="95367"/>
            <a:ext cx="464878" cy="46487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65F01DA-AEE9-9C29-6EB9-8A00EE562D9E}"/>
              </a:ext>
            </a:extLst>
          </p:cNvPr>
          <p:cNvSpPr txBox="1"/>
          <p:nvPr/>
        </p:nvSpPr>
        <p:spPr>
          <a:xfrm>
            <a:off x="638629" y="764604"/>
            <a:ext cx="10213323" cy="537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Actions.dart</a:t>
            </a:r>
            <a:r>
              <a:rPr lang="en-US" sz="2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Khai báo các hành động có thể thực hiện (tăng/giảm/…)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037B5F-B5C7-20ED-5197-C1DB903C40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0913" y="1617642"/>
            <a:ext cx="4674019" cy="415608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2317DED-AA75-52DF-813D-B1BB42EBFAAD}"/>
              </a:ext>
            </a:extLst>
          </p:cNvPr>
          <p:cNvCxnSpPr>
            <a:cxnSpLocks/>
          </p:cNvCxnSpPr>
          <p:nvPr/>
        </p:nvCxnSpPr>
        <p:spPr>
          <a:xfrm>
            <a:off x="5362465" y="1430966"/>
            <a:ext cx="0" cy="4514691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E85BC52B-12AB-73BA-C993-0302443678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9777" y="1596329"/>
            <a:ext cx="3941126" cy="240766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BCEFF1D-EFE6-DF7C-13BD-8D1E6AA5AEBF}"/>
              </a:ext>
            </a:extLst>
          </p:cNvPr>
          <p:cNvSpPr txBox="1"/>
          <p:nvPr/>
        </p:nvSpPr>
        <p:spPr>
          <a:xfrm>
            <a:off x="859777" y="2250368"/>
            <a:ext cx="3941126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25438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C13A0-CDF4-BB97-CD3B-96E4BE5D5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EA1975F-A529-6AD4-2FF4-AD0642ED32A5}"/>
              </a:ext>
            </a:extLst>
          </p:cNvPr>
          <p:cNvSpPr/>
          <p:nvPr/>
        </p:nvSpPr>
        <p:spPr>
          <a:xfrm>
            <a:off x="-1" y="0"/>
            <a:ext cx="12192001" cy="68727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8291FFC-0ED3-C765-5468-ED8E382B52D6}"/>
              </a:ext>
            </a:extLst>
          </p:cNvPr>
          <p:cNvSpPr txBox="1">
            <a:spLocks/>
          </p:cNvSpPr>
          <p:nvPr/>
        </p:nvSpPr>
        <p:spPr>
          <a:xfrm>
            <a:off x="11339813" y="6521725"/>
            <a:ext cx="2628900" cy="1538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PAGE </a:t>
            </a:r>
            <a:r>
              <a:rPr lang="en-US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7</a:t>
            </a:r>
          </a:p>
        </p:txBody>
      </p:sp>
      <p:sp>
        <p:nvSpPr>
          <p:cNvPr id="7" name="Title 10">
            <a:extLst>
              <a:ext uri="{FF2B5EF4-FFF2-40B4-BE49-F238E27FC236}">
                <a16:creationId xmlns:a16="http://schemas.microsoft.com/office/drawing/2014/main" id="{E94CBA05-1065-306D-D71C-0C3701A8978C}"/>
              </a:ext>
            </a:extLst>
          </p:cNvPr>
          <p:cNvSpPr txBox="1">
            <a:spLocks/>
          </p:cNvSpPr>
          <p:nvPr/>
        </p:nvSpPr>
        <p:spPr>
          <a:xfrm>
            <a:off x="812381" y="109014"/>
            <a:ext cx="10907670" cy="466973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2.</a:t>
            </a:r>
            <a:r>
              <a:rPr lang="en-US" sz="40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Store, Actions, Reducers concepts</a:t>
            </a:r>
            <a:endParaRPr lang="en-US" sz="3200" b="1">
              <a:solidFill>
                <a:srgbClr val="CD1D1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Picture 4" descr="Tải mẫu logo trường đại học Bách Khoa Đà Nẵng (DUT) file ...">
            <a:extLst>
              <a:ext uri="{FF2B5EF4-FFF2-40B4-BE49-F238E27FC236}">
                <a16:creationId xmlns:a16="http://schemas.microsoft.com/office/drawing/2014/main" id="{26CE8AE9-0D80-C0A8-CAD5-6A2D3B541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07" y="95367"/>
            <a:ext cx="464878" cy="46487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AC165A3-5A22-248E-3D71-14FF85272EED}"/>
              </a:ext>
            </a:extLst>
          </p:cNvPr>
          <p:cNvSpPr txBox="1"/>
          <p:nvPr/>
        </p:nvSpPr>
        <p:spPr>
          <a:xfrm>
            <a:off x="348349" y="559885"/>
            <a:ext cx="10213323" cy="537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2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app_state.dart</a:t>
            </a:r>
            <a:r>
              <a:rPr lang="en-US" sz="22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Mô tả cấu trúc dữ liệu trạng thái toàn cục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C7E8A79-1E54-64F1-B8FD-17CA0021B64A}"/>
              </a:ext>
            </a:extLst>
          </p:cNvPr>
          <p:cNvCxnSpPr>
            <a:cxnSpLocks/>
          </p:cNvCxnSpPr>
          <p:nvPr/>
        </p:nvCxnSpPr>
        <p:spPr>
          <a:xfrm>
            <a:off x="4506122" y="1183503"/>
            <a:ext cx="0" cy="5344786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40B9B79A-B328-727D-3B96-A88B04D9CB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2594" y="1204112"/>
            <a:ext cx="3880720" cy="23707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24EA5EE-D59D-C8FB-3378-09D72B148431}"/>
              </a:ext>
            </a:extLst>
          </p:cNvPr>
          <p:cNvSpPr txBox="1"/>
          <p:nvPr/>
        </p:nvSpPr>
        <p:spPr>
          <a:xfrm>
            <a:off x="502592" y="2189381"/>
            <a:ext cx="3880720" cy="3564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3797A3D-C6AD-8B31-EF2C-C8C78D2BA5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53629" y="1183502"/>
            <a:ext cx="6486180" cy="5344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623901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90AE6-824B-DF29-6EAF-ECA008FC0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660EAC8-AFB4-C368-401F-52414D7E1078}"/>
              </a:ext>
            </a:extLst>
          </p:cNvPr>
          <p:cNvSpPr/>
          <p:nvPr/>
        </p:nvSpPr>
        <p:spPr>
          <a:xfrm>
            <a:off x="-1" y="0"/>
            <a:ext cx="12192001" cy="68727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8F9C839-016D-30C9-4FB1-BE25D94C621F}"/>
              </a:ext>
            </a:extLst>
          </p:cNvPr>
          <p:cNvSpPr txBox="1">
            <a:spLocks/>
          </p:cNvSpPr>
          <p:nvPr/>
        </p:nvSpPr>
        <p:spPr>
          <a:xfrm>
            <a:off x="11339813" y="6521725"/>
            <a:ext cx="2628900" cy="1538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PAGE </a:t>
            </a:r>
            <a:r>
              <a:rPr lang="en-US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7</a:t>
            </a:r>
          </a:p>
        </p:txBody>
      </p:sp>
      <p:sp>
        <p:nvSpPr>
          <p:cNvPr id="7" name="Title 10">
            <a:extLst>
              <a:ext uri="{FF2B5EF4-FFF2-40B4-BE49-F238E27FC236}">
                <a16:creationId xmlns:a16="http://schemas.microsoft.com/office/drawing/2014/main" id="{FFCA871B-5E0B-6F01-40CE-11DC847E2EBA}"/>
              </a:ext>
            </a:extLst>
          </p:cNvPr>
          <p:cNvSpPr txBox="1">
            <a:spLocks/>
          </p:cNvSpPr>
          <p:nvPr/>
        </p:nvSpPr>
        <p:spPr>
          <a:xfrm>
            <a:off x="812381" y="109014"/>
            <a:ext cx="10907670" cy="466973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2.</a:t>
            </a:r>
            <a:r>
              <a:rPr lang="en-US" sz="40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Store, Actions, Reducers concepts</a:t>
            </a:r>
            <a:endParaRPr lang="en-US" sz="3200" b="1">
              <a:solidFill>
                <a:srgbClr val="CD1D1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Picture 4" descr="Tải mẫu logo trường đại học Bách Khoa Đà Nẵng (DUT) file ...">
            <a:extLst>
              <a:ext uri="{FF2B5EF4-FFF2-40B4-BE49-F238E27FC236}">
                <a16:creationId xmlns:a16="http://schemas.microsoft.com/office/drawing/2014/main" id="{66F16B52-7167-27EA-6D21-F03CB2EC6D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07" y="95367"/>
            <a:ext cx="464878" cy="46487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9AC42A7-E948-3402-7349-7980C6AF2AC1}"/>
              </a:ext>
            </a:extLst>
          </p:cNvPr>
          <p:cNvSpPr txBox="1"/>
          <p:nvPr/>
        </p:nvSpPr>
        <p:spPr>
          <a:xfrm>
            <a:off x="275779" y="549701"/>
            <a:ext cx="10213323" cy="49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app_state.dart</a:t>
            </a:r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72B8439-4857-4152-D5DB-223A030E01B6}"/>
              </a:ext>
            </a:extLst>
          </p:cNvPr>
          <p:cNvCxnSpPr>
            <a:cxnSpLocks/>
          </p:cNvCxnSpPr>
          <p:nvPr/>
        </p:nvCxnSpPr>
        <p:spPr>
          <a:xfrm>
            <a:off x="6096000" y="1046632"/>
            <a:ext cx="0" cy="5344786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F14F784-CCB6-862B-ECE9-688FCE1B76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r="7334"/>
          <a:stretch>
            <a:fillRect/>
          </a:stretch>
        </p:blipFill>
        <p:spPr>
          <a:xfrm>
            <a:off x="365246" y="1168496"/>
            <a:ext cx="5537052" cy="467729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1DF7EC5-C3B6-1882-A7F6-E0E3A4793FC6}"/>
              </a:ext>
            </a:extLst>
          </p:cNvPr>
          <p:cNvSpPr txBox="1"/>
          <p:nvPr/>
        </p:nvSpPr>
        <p:spPr>
          <a:xfrm>
            <a:off x="6400800" y="1323833"/>
            <a:ext cx="4367284" cy="1815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178250-2E6B-444B-D18F-DB0A13B85A00}"/>
              </a:ext>
            </a:extLst>
          </p:cNvPr>
          <p:cNvSpPr txBox="1"/>
          <p:nvPr/>
        </p:nvSpPr>
        <p:spPr>
          <a:xfrm>
            <a:off x="6230203" y="995975"/>
            <a:ext cx="5686018" cy="1420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Product: lớp dữ liệu cho món ăn gồm id, tên, số lượng.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copyWith(): tạo bản sao mới với giá trị thay đổi.</a:t>
            </a:r>
          </a:p>
        </p:txBody>
      </p:sp>
    </p:spTree>
    <p:extLst>
      <p:ext uri="{BB962C8B-B14F-4D97-AF65-F5344CB8AC3E}">
        <p14:creationId xmlns:p14="http://schemas.microsoft.com/office/powerpoint/2010/main" val="354453505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C88ED-08CB-2AF4-AFE9-0116C748D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B1A5AEC-9F05-60C1-0CF5-F0078CF8E97A}"/>
              </a:ext>
            </a:extLst>
          </p:cNvPr>
          <p:cNvSpPr/>
          <p:nvPr/>
        </p:nvSpPr>
        <p:spPr>
          <a:xfrm>
            <a:off x="-1" y="0"/>
            <a:ext cx="12192001" cy="68727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0693834-7BBE-2ADF-1C28-EABC6EE263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0653" y="1123763"/>
            <a:ext cx="6372197" cy="5459047"/>
          </a:xfrm>
          <a:prstGeom prst="rect">
            <a:avLst/>
          </a:prstGeom>
        </p:spPr>
      </p:pic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009B95D-2FBC-6B69-56F0-3DF0453769F5}"/>
              </a:ext>
            </a:extLst>
          </p:cNvPr>
          <p:cNvSpPr txBox="1">
            <a:spLocks/>
          </p:cNvSpPr>
          <p:nvPr/>
        </p:nvSpPr>
        <p:spPr>
          <a:xfrm>
            <a:off x="11339813" y="6521725"/>
            <a:ext cx="2628900" cy="1538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PAGE </a:t>
            </a:r>
            <a:r>
              <a:rPr lang="en-US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7</a:t>
            </a:r>
          </a:p>
        </p:txBody>
      </p:sp>
      <p:sp>
        <p:nvSpPr>
          <p:cNvPr id="7" name="Title 10">
            <a:extLst>
              <a:ext uri="{FF2B5EF4-FFF2-40B4-BE49-F238E27FC236}">
                <a16:creationId xmlns:a16="http://schemas.microsoft.com/office/drawing/2014/main" id="{644837C6-07AE-D724-38C9-748F605C4D48}"/>
              </a:ext>
            </a:extLst>
          </p:cNvPr>
          <p:cNvSpPr txBox="1">
            <a:spLocks/>
          </p:cNvSpPr>
          <p:nvPr/>
        </p:nvSpPr>
        <p:spPr>
          <a:xfrm>
            <a:off x="812381" y="109014"/>
            <a:ext cx="10907670" cy="466973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2.</a:t>
            </a:r>
            <a:r>
              <a:rPr lang="en-US" sz="40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Store, Actions, Reducers concepts</a:t>
            </a:r>
            <a:endParaRPr lang="en-US" sz="3200" b="1">
              <a:solidFill>
                <a:srgbClr val="CD1D1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Picture 4" descr="Tải mẫu logo trường đại học Bách Khoa Đà Nẵng (DUT) file ...">
            <a:extLst>
              <a:ext uri="{FF2B5EF4-FFF2-40B4-BE49-F238E27FC236}">
                <a16:creationId xmlns:a16="http://schemas.microsoft.com/office/drawing/2014/main" id="{12CE9FE4-6E8D-1CB0-CD65-1B23F33C2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07" y="95367"/>
            <a:ext cx="464878" cy="46487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0C2A69A-C505-0129-A339-F3E273F70C87}"/>
              </a:ext>
            </a:extLst>
          </p:cNvPr>
          <p:cNvSpPr txBox="1"/>
          <p:nvPr/>
        </p:nvSpPr>
        <p:spPr>
          <a:xfrm>
            <a:off x="221187" y="549701"/>
            <a:ext cx="10213323" cy="49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app_state.dart</a:t>
            </a:r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2C01D74-73A7-284F-AD46-F2EFAA465D14}"/>
              </a:ext>
            </a:extLst>
          </p:cNvPr>
          <p:cNvCxnSpPr>
            <a:cxnSpLocks/>
          </p:cNvCxnSpPr>
          <p:nvPr/>
        </p:nvCxnSpPr>
        <p:spPr>
          <a:xfrm>
            <a:off x="6682850" y="1123763"/>
            <a:ext cx="4" cy="5536178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CA7DD1D-D5C0-E3AF-8960-62DF54E6BDC4}"/>
              </a:ext>
            </a:extLst>
          </p:cNvPr>
          <p:cNvSpPr txBox="1"/>
          <p:nvPr/>
        </p:nvSpPr>
        <p:spPr>
          <a:xfrm>
            <a:off x="6400800" y="1323833"/>
            <a:ext cx="4367284" cy="1815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A0093A-E765-D81F-3DF5-02464D811B04}"/>
              </a:ext>
            </a:extLst>
          </p:cNvPr>
          <p:cNvSpPr txBox="1"/>
          <p:nvPr/>
        </p:nvSpPr>
        <p:spPr>
          <a:xfrm>
            <a:off x="6746541" y="1023271"/>
            <a:ext cx="5236188" cy="5113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Tx/>
              <a:buChar char="-"/>
            </a:pPr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AppState: Trạng thái toàn cục của ứng dụng gồm:</a:t>
            </a:r>
          </a:p>
          <a:p>
            <a:pPr algn="just">
              <a:lnSpc>
                <a:spcPct val="150000"/>
              </a:lnSpc>
            </a:pPr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 + Danh sách sản phẩm (products)</a:t>
            </a:r>
          </a:p>
          <a:p>
            <a:pPr algn="just">
              <a:lnSpc>
                <a:spcPct val="150000"/>
              </a:lnSpc>
            </a:pPr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 + Lịch sử trạng thái (history)</a:t>
            </a:r>
          </a:p>
          <a:p>
            <a:pPr algn="just">
              <a:lnSpc>
                <a:spcPct val="150000"/>
              </a:lnSpc>
            </a:pPr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 + Vị trí trạng thái (currentIndex)</a:t>
            </a:r>
          </a:p>
          <a:p>
            <a:pPr algn="just">
              <a:lnSpc>
                <a:spcPct val="150000"/>
              </a:lnSpc>
            </a:pPr>
            <a:endParaRPr lang="en-US" sz="20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>
              <a:lnSpc>
                <a:spcPct val="150000"/>
              </a:lnSpc>
              <a:buFontTx/>
              <a:buChar char="-"/>
            </a:pPr>
            <a:endParaRPr lang="en-US" sz="20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>
              <a:lnSpc>
                <a:spcPct val="150000"/>
              </a:lnSpc>
              <a:buFontTx/>
              <a:buChar char="-"/>
            </a:pPr>
            <a:endParaRPr lang="en-US" sz="20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>
              <a:lnSpc>
                <a:spcPct val="150000"/>
              </a:lnSpc>
              <a:buFontTx/>
              <a:buChar char="-"/>
            </a:pPr>
            <a:endParaRPr lang="en-US" sz="20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>
              <a:lnSpc>
                <a:spcPct val="150000"/>
              </a:lnSpc>
              <a:buFontTx/>
              <a:buChar char="-"/>
            </a:pPr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snapshotProducts(): tạo bản sao mới cho products</a:t>
            </a:r>
          </a:p>
        </p:txBody>
      </p:sp>
    </p:spTree>
    <p:extLst>
      <p:ext uri="{BB962C8B-B14F-4D97-AF65-F5344CB8AC3E}">
        <p14:creationId xmlns:p14="http://schemas.microsoft.com/office/powerpoint/2010/main" val="4167678009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99E99-576C-A5D7-832A-E0CD12018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7F26967-6D3F-B980-90AB-D4F75BB8E683}"/>
              </a:ext>
            </a:extLst>
          </p:cNvPr>
          <p:cNvSpPr/>
          <p:nvPr/>
        </p:nvSpPr>
        <p:spPr>
          <a:xfrm>
            <a:off x="-1" y="0"/>
            <a:ext cx="12192001" cy="68727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3177138-E248-B3E6-C3BD-8C46D6A909E5}"/>
              </a:ext>
            </a:extLst>
          </p:cNvPr>
          <p:cNvSpPr txBox="1">
            <a:spLocks/>
          </p:cNvSpPr>
          <p:nvPr/>
        </p:nvSpPr>
        <p:spPr>
          <a:xfrm>
            <a:off x="11339813" y="6521725"/>
            <a:ext cx="2628900" cy="1538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PAGE </a:t>
            </a:r>
            <a:r>
              <a:rPr lang="en-US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7</a:t>
            </a:r>
          </a:p>
        </p:txBody>
      </p:sp>
      <p:sp>
        <p:nvSpPr>
          <p:cNvPr id="7" name="Title 10">
            <a:extLst>
              <a:ext uri="{FF2B5EF4-FFF2-40B4-BE49-F238E27FC236}">
                <a16:creationId xmlns:a16="http://schemas.microsoft.com/office/drawing/2014/main" id="{1E687850-D630-2A4D-DC97-DD81BBFDD738}"/>
              </a:ext>
            </a:extLst>
          </p:cNvPr>
          <p:cNvSpPr txBox="1">
            <a:spLocks/>
          </p:cNvSpPr>
          <p:nvPr/>
        </p:nvSpPr>
        <p:spPr>
          <a:xfrm>
            <a:off x="812381" y="109014"/>
            <a:ext cx="10907670" cy="466973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2.</a:t>
            </a:r>
            <a:r>
              <a:rPr lang="en-US" sz="40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Store, Actions, Reducers concepts</a:t>
            </a:r>
            <a:endParaRPr lang="en-US" sz="3200" b="1">
              <a:solidFill>
                <a:srgbClr val="CD1D1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Picture 4" descr="Tải mẫu logo trường đại học Bách Khoa Đà Nẵng (DUT) file ...">
            <a:extLst>
              <a:ext uri="{FF2B5EF4-FFF2-40B4-BE49-F238E27FC236}">
                <a16:creationId xmlns:a16="http://schemas.microsoft.com/office/drawing/2014/main" id="{EC0C9B33-4E73-88DB-EA87-EE7F5E9EE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07" y="95367"/>
            <a:ext cx="464878" cy="46487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3278A20-142E-6994-8457-F05D4B51802D}"/>
              </a:ext>
            </a:extLst>
          </p:cNvPr>
          <p:cNvSpPr txBox="1"/>
          <p:nvPr/>
        </p:nvSpPr>
        <p:spPr>
          <a:xfrm>
            <a:off x="348349" y="723661"/>
            <a:ext cx="10213323" cy="49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reducers.dart</a:t>
            </a:r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Xử lý hành động và cập nhật trạng thái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CACDAEC-569E-8871-537E-E8F33DC4B8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2594" y="1299648"/>
            <a:ext cx="3659971" cy="223590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D5F500A-5E25-B437-D061-3D218CE6111C}"/>
              </a:ext>
            </a:extLst>
          </p:cNvPr>
          <p:cNvSpPr txBox="1"/>
          <p:nvPr/>
        </p:nvSpPr>
        <p:spPr>
          <a:xfrm>
            <a:off x="502594" y="2912713"/>
            <a:ext cx="3659973" cy="3354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8055B4-0A95-48B9-6E70-85984005EB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42345" y="1250515"/>
            <a:ext cx="7681966" cy="4705204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B53C664-E573-163F-5AF0-9CD721A276A7}"/>
              </a:ext>
            </a:extLst>
          </p:cNvPr>
          <p:cNvCxnSpPr>
            <a:cxnSpLocks/>
          </p:cNvCxnSpPr>
          <p:nvPr/>
        </p:nvCxnSpPr>
        <p:spPr>
          <a:xfrm>
            <a:off x="4287753" y="1299648"/>
            <a:ext cx="0" cy="4656071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1862485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D29B1-9088-FC87-A0D6-983AD2DC1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5B7D99-BE1F-0A5F-D33F-E9D52E794658}"/>
              </a:ext>
            </a:extLst>
          </p:cNvPr>
          <p:cNvSpPr/>
          <p:nvPr/>
        </p:nvSpPr>
        <p:spPr>
          <a:xfrm>
            <a:off x="-1" y="0"/>
            <a:ext cx="12192001" cy="68727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0FA7F9E-9999-77B6-0227-A6545D943559}"/>
              </a:ext>
            </a:extLst>
          </p:cNvPr>
          <p:cNvSpPr txBox="1">
            <a:spLocks/>
          </p:cNvSpPr>
          <p:nvPr/>
        </p:nvSpPr>
        <p:spPr>
          <a:xfrm>
            <a:off x="11339813" y="6521725"/>
            <a:ext cx="2628900" cy="1538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PAGE </a:t>
            </a:r>
            <a:r>
              <a:rPr lang="en-US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7</a:t>
            </a:r>
          </a:p>
        </p:txBody>
      </p:sp>
      <p:sp>
        <p:nvSpPr>
          <p:cNvPr id="7" name="Title 10">
            <a:extLst>
              <a:ext uri="{FF2B5EF4-FFF2-40B4-BE49-F238E27FC236}">
                <a16:creationId xmlns:a16="http://schemas.microsoft.com/office/drawing/2014/main" id="{675985A7-0BD3-9FAC-7462-8D8CA74F08A8}"/>
              </a:ext>
            </a:extLst>
          </p:cNvPr>
          <p:cNvSpPr txBox="1">
            <a:spLocks/>
          </p:cNvSpPr>
          <p:nvPr/>
        </p:nvSpPr>
        <p:spPr>
          <a:xfrm>
            <a:off x="812381" y="109014"/>
            <a:ext cx="10907670" cy="466973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2.</a:t>
            </a:r>
            <a:r>
              <a:rPr lang="en-US" sz="40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Store, Actions, Reducers concepts</a:t>
            </a:r>
            <a:endParaRPr lang="en-US" sz="3200" b="1">
              <a:solidFill>
                <a:srgbClr val="CD1D1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Picture 4" descr="Tải mẫu logo trường đại học Bách Khoa Đà Nẵng (DUT) file ...">
            <a:extLst>
              <a:ext uri="{FF2B5EF4-FFF2-40B4-BE49-F238E27FC236}">
                <a16:creationId xmlns:a16="http://schemas.microsoft.com/office/drawing/2014/main" id="{D9663AD0-A7FA-A380-5A2C-BD78EE298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07" y="95367"/>
            <a:ext cx="464878" cy="46487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2ED0FC-6AE7-160A-9511-136C7B9CCD06}"/>
              </a:ext>
            </a:extLst>
          </p:cNvPr>
          <p:cNvSpPr txBox="1"/>
          <p:nvPr/>
        </p:nvSpPr>
        <p:spPr>
          <a:xfrm>
            <a:off x="348349" y="491645"/>
            <a:ext cx="10213323" cy="49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reducers.dart</a:t>
            </a:r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D15A8DC-3A2F-7451-45DA-520737E112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6575" y="1067800"/>
            <a:ext cx="6450731" cy="437765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513CC00-C548-D747-44AD-4081DCF37212}"/>
              </a:ext>
            </a:extLst>
          </p:cNvPr>
          <p:cNvCxnSpPr>
            <a:cxnSpLocks/>
          </p:cNvCxnSpPr>
          <p:nvPr/>
        </p:nvCxnSpPr>
        <p:spPr>
          <a:xfrm>
            <a:off x="6976366" y="999560"/>
            <a:ext cx="0" cy="5533149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337E181-F01E-362C-97A4-E7BBBF96AE14}"/>
              </a:ext>
            </a:extLst>
          </p:cNvPr>
          <p:cNvSpPr txBox="1"/>
          <p:nvPr/>
        </p:nvSpPr>
        <p:spPr>
          <a:xfrm>
            <a:off x="7111663" y="994310"/>
            <a:ext cx="494504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 Hàm appReducer(): nhận đầu vào là trạng thái hiện tại và hành động.</a:t>
            </a:r>
          </a:p>
          <a:p>
            <a:endParaRPr lang="en-US" sz="20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 Xử lý các hành động:</a:t>
            </a:r>
          </a:p>
          <a:p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+ Tăng số lượng – IncrementAction()</a:t>
            </a:r>
          </a:p>
          <a:p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+ Giảm số lượng – DecrementAction()</a:t>
            </a:r>
          </a:p>
          <a:p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+ Reset                   - ResetAllAction()</a:t>
            </a:r>
          </a:p>
          <a:p>
            <a:endParaRPr lang="en-US" sz="20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874799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4A9E1-856E-0D8A-83F9-CB6E2BB07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9501878-7F62-D249-ECF2-AF30D752AD2C}"/>
              </a:ext>
            </a:extLst>
          </p:cNvPr>
          <p:cNvSpPr/>
          <p:nvPr/>
        </p:nvSpPr>
        <p:spPr>
          <a:xfrm>
            <a:off x="-1" y="0"/>
            <a:ext cx="12192001" cy="68727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56EAA53-EE8B-3F3F-B20C-B97281529F59}"/>
              </a:ext>
            </a:extLst>
          </p:cNvPr>
          <p:cNvSpPr txBox="1">
            <a:spLocks/>
          </p:cNvSpPr>
          <p:nvPr/>
        </p:nvSpPr>
        <p:spPr>
          <a:xfrm>
            <a:off x="11339813" y="6521725"/>
            <a:ext cx="2628900" cy="1538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PAGE </a:t>
            </a:r>
            <a:r>
              <a:rPr lang="en-US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7</a:t>
            </a:r>
          </a:p>
        </p:txBody>
      </p:sp>
      <p:sp>
        <p:nvSpPr>
          <p:cNvPr id="7" name="Title 10">
            <a:extLst>
              <a:ext uri="{FF2B5EF4-FFF2-40B4-BE49-F238E27FC236}">
                <a16:creationId xmlns:a16="http://schemas.microsoft.com/office/drawing/2014/main" id="{15A469B5-E25D-8237-7008-A2B6C2F7566B}"/>
              </a:ext>
            </a:extLst>
          </p:cNvPr>
          <p:cNvSpPr txBox="1">
            <a:spLocks/>
          </p:cNvSpPr>
          <p:nvPr/>
        </p:nvSpPr>
        <p:spPr>
          <a:xfrm>
            <a:off x="812381" y="109014"/>
            <a:ext cx="10907670" cy="466973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2.</a:t>
            </a:r>
            <a:r>
              <a:rPr lang="en-US" sz="40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Store, Actions, Reducers concepts</a:t>
            </a:r>
            <a:endParaRPr lang="en-US" sz="3200" b="1">
              <a:solidFill>
                <a:srgbClr val="CD1D1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Picture 4" descr="Tải mẫu logo trường đại học Bách Khoa Đà Nẵng (DUT) file ...">
            <a:extLst>
              <a:ext uri="{FF2B5EF4-FFF2-40B4-BE49-F238E27FC236}">
                <a16:creationId xmlns:a16="http://schemas.microsoft.com/office/drawing/2014/main" id="{D614B846-4274-3DDA-EA95-E5B0F0AD5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07" y="95367"/>
            <a:ext cx="464878" cy="46487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6C7DEB0-BAF4-B196-39C0-9E3B68265136}"/>
              </a:ext>
            </a:extLst>
          </p:cNvPr>
          <p:cNvSpPr txBox="1"/>
          <p:nvPr/>
        </p:nvSpPr>
        <p:spPr>
          <a:xfrm>
            <a:off x="348349" y="491645"/>
            <a:ext cx="10213323" cy="49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reducers.dart</a:t>
            </a:r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735B9E1-696A-63E1-28DE-C9EF87ABC7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6575" y="1067800"/>
            <a:ext cx="6450731" cy="4377658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914936-76BF-D5BF-FF51-4AFDCF3C5522}"/>
              </a:ext>
            </a:extLst>
          </p:cNvPr>
          <p:cNvCxnSpPr>
            <a:cxnSpLocks/>
          </p:cNvCxnSpPr>
          <p:nvPr/>
        </p:nvCxnSpPr>
        <p:spPr>
          <a:xfrm>
            <a:off x="6744350" y="999560"/>
            <a:ext cx="0" cy="5533149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D8A2B0B-629A-4273-8ECD-2DB3D5B5E26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75349" y="1056816"/>
            <a:ext cx="5185653" cy="3490344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744D46D-8A0E-EAEA-90B5-3FC8E7534452}"/>
              </a:ext>
            </a:extLst>
          </p:cNvPr>
          <p:cNvSpPr txBox="1"/>
          <p:nvPr/>
        </p:nvSpPr>
        <p:spPr>
          <a:xfrm>
            <a:off x="11720050" y="1067633"/>
            <a:ext cx="340951" cy="4063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593027-12D3-5952-7030-0A9639D96E53}"/>
              </a:ext>
            </a:extLst>
          </p:cNvPr>
          <p:cNvSpPr txBox="1"/>
          <p:nvPr/>
        </p:nvSpPr>
        <p:spPr>
          <a:xfrm>
            <a:off x="10781731" y="2257263"/>
            <a:ext cx="1132765" cy="5268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432939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0C36E-2AA6-3618-6002-B1741AFA3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E220464-9024-941C-5399-71C46023158C}"/>
              </a:ext>
            </a:extLst>
          </p:cNvPr>
          <p:cNvSpPr/>
          <p:nvPr/>
        </p:nvSpPr>
        <p:spPr>
          <a:xfrm>
            <a:off x="-1" y="0"/>
            <a:ext cx="12192001" cy="68727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3ECEC68-E5B6-8D6C-585A-7CAA56D289A5}"/>
              </a:ext>
            </a:extLst>
          </p:cNvPr>
          <p:cNvSpPr txBox="1">
            <a:spLocks/>
          </p:cNvSpPr>
          <p:nvPr/>
        </p:nvSpPr>
        <p:spPr>
          <a:xfrm>
            <a:off x="11339813" y="6521725"/>
            <a:ext cx="2628900" cy="1538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PAGE </a:t>
            </a:r>
            <a:r>
              <a:rPr lang="en-US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7</a:t>
            </a:r>
          </a:p>
        </p:txBody>
      </p:sp>
      <p:sp>
        <p:nvSpPr>
          <p:cNvPr id="7" name="Title 10">
            <a:extLst>
              <a:ext uri="{FF2B5EF4-FFF2-40B4-BE49-F238E27FC236}">
                <a16:creationId xmlns:a16="http://schemas.microsoft.com/office/drawing/2014/main" id="{6529958E-8415-CC26-9214-FF0E95DB846D}"/>
              </a:ext>
            </a:extLst>
          </p:cNvPr>
          <p:cNvSpPr txBox="1">
            <a:spLocks/>
          </p:cNvSpPr>
          <p:nvPr/>
        </p:nvSpPr>
        <p:spPr>
          <a:xfrm>
            <a:off x="812381" y="109014"/>
            <a:ext cx="10907670" cy="466973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2.</a:t>
            </a:r>
            <a:r>
              <a:rPr lang="en-US" sz="40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Store, Actions, Reducers concepts</a:t>
            </a:r>
            <a:endParaRPr lang="en-US" sz="3200" b="1">
              <a:solidFill>
                <a:srgbClr val="CD1D1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Picture 4" descr="Tải mẫu logo trường đại học Bách Khoa Đà Nẵng (DUT) file ...">
            <a:extLst>
              <a:ext uri="{FF2B5EF4-FFF2-40B4-BE49-F238E27FC236}">
                <a16:creationId xmlns:a16="http://schemas.microsoft.com/office/drawing/2014/main" id="{DF399174-6CE0-ADB8-0D28-273EC16B0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07" y="95367"/>
            <a:ext cx="464878" cy="46487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B2203A-3E0B-F9CE-6D69-15DA8DB92605}"/>
              </a:ext>
            </a:extLst>
          </p:cNvPr>
          <p:cNvSpPr txBox="1"/>
          <p:nvPr/>
        </p:nvSpPr>
        <p:spPr>
          <a:xfrm>
            <a:off x="211869" y="600829"/>
            <a:ext cx="10213323" cy="49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reducers.dart</a:t>
            </a:r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3AA8EF-84A1-9E7D-9D91-48C622FF4E35}"/>
              </a:ext>
            </a:extLst>
          </p:cNvPr>
          <p:cNvSpPr txBox="1"/>
          <p:nvPr/>
        </p:nvSpPr>
        <p:spPr>
          <a:xfrm>
            <a:off x="7246960" y="1228300"/>
            <a:ext cx="45184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- Xử lý các hành động:</a:t>
            </a:r>
          </a:p>
          <a:p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+ Undo tua lùi  – UndoAction()</a:t>
            </a:r>
          </a:p>
          <a:p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+ Redo tua tới  – Red0Action()</a:t>
            </a:r>
          </a:p>
          <a:p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E6605F8-61C3-2060-2A7E-3569076D1F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3771" y="1313295"/>
            <a:ext cx="6539202" cy="417310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57B5A0B-FB72-0B21-6959-77D7F63F05A7}"/>
              </a:ext>
            </a:extLst>
          </p:cNvPr>
          <p:cNvCxnSpPr>
            <a:cxnSpLocks/>
          </p:cNvCxnSpPr>
          <p:nvPr/>
        </p:nvCxnSpPr>
        <p:spPr>
          <a:xfrm>
            <a:off x="6757998" y="1097760"/>
            <a:ext cx="0" cy="5289392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D953902-B0C7-0F6C-B1E0-F826D30A6D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57561" y="2667260"/>
            <a:ext cx="5185653" cy="3490344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9F66E9A-3482-B136-8E17-E9205E04C827}"/>
              </a:ext>
            </a:extLst>
          </p:cNvPr>
          <p:cNvSpPr txBox="1"/>
          <p:nvPr/>
        </p:nvSpPr>
        <p:spPr>
          <a:xfrm>
            <a:off x="10235821" y="3172934"/>
            <a:ext cx="832514" cy="48290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961375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5608C-2BD0-C136-0F1B-C43328828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1C299C-B7B1-AD4F-54DE-8847DDAB7A35}"/>
              </a:ext>
            </a:extLst>
          </p:cNvPr>
          <p:cNvSpPr/>
          <p:nvPr/>
        </p:nvSpPr>
        <p:spPr>
          <a:xfrm>
            <a:off x="-1" y="13648"/>
            <a:ext cx="12192001" cy="68727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A75BDA8-BA9B-09C9-E4A2-7188BFA44296}"/>
              </a:ext>
            </a:extLst>
          </p:cNvPr>
          <p:cNvSpPr txBox="1">
            <a:spLocks/>
          </p:cNvSpPr>
          <p:nvPr/>
        </p:nvSpPr>
        <p:spPr>
          <a:xfrm>
            <a:off x="11339813" y="6521725"/>
            <a:ext cx="2628900" cy="1538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PAGE </a:t>
            </a:r>
            <a:r>
              <a:rPr lang="en-US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7</a:t>
            </a:r>
          </a:p>
        </p:txBody>
      </p:sp>
      <p:sp>
        <p:nvSpPr>
          <p:cNvPr id="7" name="Title 10">
            <a:extLst>
              <a:ext uri="{FF2B5EF4-FFF2-40B4-BE49-F238E27FC236}">
                <a16:creationId xmlns:a16="http://schemas.microsoft.com/office/drawing/2014/main" id="{98C75495-8A9F-90A7-038D-5089573F7838}"/>
              </a:ext>
            </a:extLst>
          </p:cNvPr>
          <p:cNvSpPr txBox="1">
            <a:spLocks/>
          </p:cNvSpPr>
          <p:nvPr/>
        </p:nvSpPr>
        <p:spPr>
          <a:xfrm>
            <a:off x="812381" y="109014"/>
            <a:ext cx="10907670" cy="466973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2.</a:t>
            </a:r>
            <a:r>
              <a:rPr lang="en-US" sz="40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Store, Actions, Reducers concepts</a:t>
            </a:r>
            <a:endParaRPr lang="en-US" sz="3200" b="1">
              <a:solidFill>
                <a:srgbClr val="CD1D1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Picture 4" descr="Tải mẫu logo trường đại học Bách Khoa Đà Nẵng (DUT) file ...">
            <a:extLst>
              <a:ext uri="{FF2B5EF4-FFF2-40B4-BE49-F238E27FC236}">
                <a16:creationId xmlns:a16="http://schemas.microsoft.com/office/drawing/2014/main" id="{4933B82A-8560-7B37-58D2-3856362B7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07" y="95367"/>
            <a:ext cx="464878" cy="46487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A9CA27D-F3A9-94B2-9A2A-08FA9B51C6BB}"/>
              </a:ext>
            </a:extLst>
          </p:cNvPr>
          <p:cNvSpPr txBox="1"/>
          <p:nvPr/>
        </p:nvSpPr>
        <p:spPr>
          <a:xfrm>
            <a:off x="348349" y="491645"/>
            <a:ext cx="10213323" cy="49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reducers.dart</a:t>
            </a:r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Xử lý hành động và cập nhật trạng thái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E5B10D6-E5DE-834D-CD5F-7C28ECFBC494}"/>
              </a:ext>
            </a:extLst>
          </p:cNvPr>
          <p:cNvCxnSpPr>
            <a:cxnSpLocks/>
          </p:cNvCxnSpPr>
          <p:nvPr/>
        </p:nvCxnSpPr>
        <p:spPr>
          <a:xfrm>
            <a:off x="4326335" y="1087966"/>
            <a:ext cx="0" cy="5344786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47D01345-33C0-8B6D-A61D-8CA33DDB80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2594" y="1067632"/>
            <a:ext cx="3782797" cy="23109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0BB7B6A-96E0-7BCD-ADC0-9630E253BDD9}"/>
              </a:ext>
            </a:extLst>
          </p:cNvPr>
          <p:cNvSpPr txBox="1"/>
          <p:nvPr/>
        </p:nvSpPr>
        <p:spPr>
          <a:xfrm>
            <a:off x="502594" y="2721641"/>
            <a:ext cx="3782797" cy="3627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CE248D8-5DDA-C86E-4FAC-87C2FE14112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64710" y="1087966"/>
            <a:ext cx="7768020" cy="523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765794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C2D63-9B74-D9B9-7025-988639C6C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10148CD-CBB6-F8F0-00BE-4C588B948AC3}"/>
              </a:ext>
            </a:extLst>
          </p:cNvPr>
          <p:cNvSpPr/>
          <p:nvPr/>
        </p:nvSpPr>
        <p:spPr>
          <a:xfrm>
            <a:off x="-1" y="0"/>
            <a:ext cx="12192001" cy="68727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B78B104-D49E-9409-34DD-4AF377717E63}"/>
              </a:ext>
            </a:extLst>
          </p:cNvPr>
          <p:cNvSpPr txBox="1">
            <a:spLocks/>
          </p:cNvSpPr>
          <p:nvPr/>
        </p:nvSpPr>
        <p:spPr>
          <a:xfrm>
            <a:off x="11339813" y="6521725"/>
            <a:ext cx="2628900" cy="1538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PAGE </a:t>
            </a:r>
            <a:r>
              <a:rPr lang="en-US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7</a:t>
            </a:r>
          </a:p>
        </p:txBody>
      </p:sp>
      <p:sp>
        <p:nvSpPr>
          <p:cNvPr id="7" name="Title 10">
            <a:extLst>
              <a:ext uri="{FF2B5EF4-FFF2-40B4-BE49-F238E27FC236}">
                <a16:creationId xmlns:a16="http://schemas.microsoft.com/office/drawing/2014/main" id="{1E883395-EFAB-FCCB-04A2-6B18ACCA11E3}"/>
              </a:ext>
            </a:extLst>
          </p:cNvPr>
          <p:cNvSpPr txBox="1">
            <a:spLocks/>
          </p:cNvSpPr>
          <p:nvPr/>
        </p:nvSpPr>
        <p:spPr>
          <a:xfrm>
            <a:off x="812381" y="109014"/>
            <a:ext cx="10907670" cy="466973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2.</a:t>
            </a:r>
            <a:r>
              <a:rPr lang="en-US" sz="40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Store, Actions, Reducers concepts</a:t>
            </a:r>
            <a:endParaRPr lang="en-US" sz="3200" b="1">
              <a:solidFill>
                <a:srgbClr val="CD1D1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Picture 4" descr="Tải mẫu logo trường đại học Bách Khoa Đà Nẵng (DUT) file ...">
            <a:extLst>
              <a:ext uri="{FF2B5EF4-FFF2-40B4-BE49-F238E27FC236}">
                <a16:creationId xmlns:a16="http://schemas.microsoft.com/office/drawing/2014/main" id="{2632386E-FA22-9B79-A2AC-84F32E68E3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07" y="95367"/>
            <a:ext cx="464878" cy="46487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7C7116-C40A-AC03-06F7-08CCC29E6791}"/>
              </a:ext>
            </a:extLst>
          </p:cNvPr>
          <p:cNvSpPr txBox="1"/>
          <p:nvPr/>
        </p:nvSpPr>
        <p:spPr>
          <a:xfrm>
            <a:off x="348349" y="491645"/>
            <a:ext cx="10213323" cy="496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Store: </a:t>
            </a:r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là nơi lưu trữ toàn bộ trạng thái.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C2E3ED9-99B7-DDB5-B92E-7955DD9E8479}"/>
              </a:ext>
            </a:extLst>
          </p:cNvPr>
          <p:cNvCxnSpPr>
            <a:cxnSpLocks/>
          </p:cNvCxnSpPr>
          <p:nvPr/>
        </p:nvCxnSpPr>
        <p:spPr>
          <a:xfrm>
            <a:off x="4326335" y="1087966"/>
            <a:ext cx="0" cy="5344786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42DB2D37-BA18-F01F-5C24-2792ED3129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2594" y="1067632"/>
            <a:ext cx="3782797" cy="23109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08A0C2C-4C33-B157-6B44-F1A744F01443}"/>
              </a:ext>
            </a:extLst>
          </p:cNvPr>
          <p:cNvSpPr txBox="1"/>
          <p:nvPr/>
        </p:nvSpPr>
        <p:spPr>
          <a:xfrm>
            <a:off x="502594" y="3066248"/>
            <a:ext cx="3745284" cy="3627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EA06FC-FA47-BAE3-EF02-5B26D65321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04793" y="1136679"/>
            <a:ext cx="3961534" cy="224189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413666A-0353-9794-97D7-D054971B8C37}"/>
              </a:ext>
            </a:extLst>
          </p:cNvPr>
          <p:cNvSpPr txBox="1"/>
          <p:nvPr/>
        </p:nvSpPr>
        <p:spPr>
          <a:xfrm>
            <a:off x="4404793" y="3643952"/>
            <a:ext cx="67454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Chỉ có 1 store duy nhất cho toàn app.</a:t>
            </a:r>
          </a:p>
          <a:p>
            <a:pPr marL="342900" indent="-342900">
              <a:buFontTx/>
              <a:buChar char="-"/>
            </a:pPr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Khởi tạo với state ban đầu, reducer và middleware</a:t>
            </a:r>
          </a:p>
        </p:txBody>
      </p:sp>
    </p:spTree>
    <p:extLst>
      <p:ext uri="{BB962C8B-B14F-4D97-AF65-F5344CB8AC3E}">
        <p14:creationId xmlns:p14="http://schemas.microsoft.com/office/powerpoint/2010/main" val="1913018627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4C975-9F26-A625-484A-D5B0BCB3A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30C603F-39A6-FCA6-EC2C-98C0E22D17E2}"/>
              </a:ext>
            </a:extLst>
          </p:cNvPr>
          <p:cNvSpPr/>
          <p:nvPr/>
        </p:nvSpPr>
        <p:spPr>
          <a:xfrm>
            <a:off x="-1" y="0"/>
            <a:ext cx="12192001" cy="68727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DD8DD6-539F-29FA-1354-CA8E93731FC5}"/>
              </a:ext>
            </a:extLst>
          </p:cNvPr>
          <p:cNvSpPr txBox="1">
            <a:spLocks/>
          </p:cNvSpPr>
          <p:nvPr/>
        </p:nvSpPr>
        <p:spPr>
          <a:xfrm>
            <a:off x="1618497" y="985249"/>
            <a:ext cx="7778496" cy="1879261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endParaRPr lang="vi-VN" sz="4400" b="1"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20000" endPos="45500" dir="5400000" sy="-100000" algn="bl" rotWithShape="0"/>
              </a:effectLst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3E7B16-230F-95A3-95B5-D17D5B139C2E}"/>
              </a:ext>
            </a:extLst>
          </p:cNvPr>
          <p:cNvSpPr txBox="1">
            <a:spLocks/>
          </p:cNvSpPr>
          <p:nvPr/>
        </p:nvSpPr>
        <p:spPr>
          <a:xfrm>
            <a:off x="1492778" y="1126475"/>
            <a:ext cx="9312407" cy="1637808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4400" b="1" err="1"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Đề</a:t>
            </a:r>
            <a:r>
              <a:rPr lang="en-US" sz="4400" b="1"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err="1"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tài</a:t>
            </a:r>
            <a:r>
              <a:rPr lang="en-US" sz="4400" b="1"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Redux Pattern trong Flutter</a:t>
            </a:r>
            <a:endParaRPr lang="vi-VN" sz="4400" b="1">
              <a:solidFill>
                <a:srgbClr val="0000CC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20000" endPos="45500" dir="5400000" sy="-100000" algn="bl" rotWithShape="0"/>
              </a:effectLst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550DBE3-4D40-440E-F544-DA71B3AB5E75}"/>
              </a:ext>
            </a:extLst>
          </p:cNvPr>
          <p:cNvSpPr txBox="1">
            <a:spLocks/>
          </p:cNvSpPr>
          <p:nvPr/>
        </p:nvSpPr>
        <p:spPr>
          <a:xfrm>
            <a:off x="11310785" y="6554840"/>
            <a:ext cx="2628900" cy="1538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PAGE </a:t>
            </a:r>
            <a:r>
              <a:rPr lang="en-US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F8DE942-AFCC-0B5E-D016-9C032B40CBA6}"/>
              </a:ext>
            </a:extLst>
          </p:cNvPr>
          <p:cNvSpPr txBox="1">
            <a:spLocks/>
          </p:cNvSpPr>
          <p:nvPr/>
        </p:nvSpPr>
        <p:spPr>
          <a:xfrm>
            <a:off x="756830" y="2084724"/>
            <a:ext cx="10784301" cy="43708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b="1">
              <a:solidFill>
                <a:srgbClr val="61616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b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1. </a:t>
            </a:r>
            <a:r>
              <a:rPr lang="en-US" sz="2400" b="1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Giới</a:t>
            </a:r>
            <a:r>
              <a:rPr lang="en-US" sz="2400" b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thiệu tổng quan </a:t>
            </a:r>
          </a:p>
          <a:p>
            <a:pPr marL="0" indent="0">
              <a:buNone/>
            </a:pPr>
            <a:r>
              <a:rPr lang="en-US" sz="2400" b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2. Store, Actions, Reducers concepts</a:t>
            </a:r>
          </a:p>
          <a:p>
            <a:pPr marL="0" indent="0">
              <a:buNone/>
            </a:pPr>
            <a:r>
              <a:rPr 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3. StoreConnector và StoreBuilder</a:t>
            </a:r>
          </a:p>
          <a:p>
            <a:pPr marL="0" indent="0">
              <a:buNone/>
            </a:pPr>
            <a:r>
              <a:rPr lang="en-US" sz="2400" b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4. Middleware và side effects</a:t>
            </a:r>
          </a:p>
          <a:p>
            <a:pPr marL="0" indent="0">
              <a:buNone/>
            </a:pPr>
            <a:r>
              <a:rPr lang="en-US" sz="2400" b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5. Time-travel debugging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53BBFE7-7732-B40F-A027-B5A7E00D81BA}"/>
              </a:ext>
            </a:extLst>
          </p:cNvPr>
          <p:cNvSpPr txBox="1">
            <a:spLocks/>
          </p:cNvSpPr>
          <p:nvPr/>
        </p:nvSpPr>
        <p:spPr>
          <a:xfrm>
            <a:off x="1136915" y="335889"/>
            <a:ext cx="3355800" cy="411471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8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TRƯỜNG ĐẠI HỌC BÁCH KHOA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735AA0E-7E37-F3F9-AA57-9B3088F6A282}"/>
              </a:ext>
            </a:extLst>
          </p:cNvPr>
          <p:cNvSpPr txBox="1">
            <a:spLocks/>
          </p:cNvSpPr>
          <p:nvPr/>
        </p:nvSpPr>
        <p:spPr>
          <a:xfrm>
            <a:off x="1136915" y="105829"/>
            <a:ext cx="2063487" cy="38219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800" b="1" i="0" u="none" strike="noStrike" kern="1200" cap="none" spc="0" normalizeH="0" baseline="0" noProof="0">
                <a:ln>
                  <a:noFill/>
                </a:ln>
                <a:solidFill>
                  <a:srgbClr val="616163"/>
                </a:solidFill>
                <a:effectLst>
                  <a:outerShdw blurRad="50800" dist="38100" dir="2700000" algn="tl" rotWithShape="0">
                    <a:prstClr val="black">
                      <a:alpha val="20000"/>
                    </a:prstClr>
                  </a:outerShdw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ĐẠI HỌC ĐÀ NẴNG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616163"/>
              </a:solidFill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4" descr="Tải mẫu logo trường đại học Bách Khoa Đà Nẵng (DUT) file ...">
            <a:extLst>
              <a:ext uri="{FF2B5EF4-FFF2-40B4-BE49-F238E27FC236}">
                <a16:creationId xmlns:a16="http://schemas.microsoft.com/office/drawing/2014/main" id="{95D05E7D-3351-8C15-8CD4-3EE7F0263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51" y="136311"/>
            <a:ext cx="963164" cy="96316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D4B2FD76-73B0-1828-553E-199E86812A3C}"/>
              </a:ext>
            </a:extLst>
          </p:cNvPr>
          <p:cNvSpPr txBox="1">
            <a:spLocks/>
          </p:cNvSpPr>
          <p:nvPr/>
        </p:nvSpPr>
        <p:spPr>
          <a:xfrm>
            <a:off x="1221961" y="728923"/>
            <a:ext cx="3127764" cy="41147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800" b="1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KHOA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ĐIỆN TỬ - VIỄN THÔNG</a:t>
            </a:r>
            <a:endParaRPr kumimoji="0" lang="vi-VN" sz="1800" b="1" i="0" u="none" strike="noStrike" kern="1200" cap="none" spc="0" normalizeH="0" baseline="0" noProof="0">
              <a:ln>
                <a:noFill/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274956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642F7-1D74-DC34-BCD8-B4CEE6721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3D92157-E8E4-4720-02C4-BE9F4CFBCB1E}"/>
              </a:ext>
            </a:extLst>
          </p:cNvPr>
          <p:cNvSpPr/>
          <p:nvPr/>
        </p:nvSpPr>
        <p:spPr>
          <a:xfrm>
            <a:off x="0" y="6288"/>
            <a:ext cx="12192000" cy="68727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5AE4BE7-59FD-DF3E-0148-F3E542C2446F}"/>
              </a:ext>
            </a:extLst>
          </p:cNvPr>
          <p:cNvSpPr txBox="1">
            <a:spLocks/>
          </p:cNvSpPr>
          <p:nvPr/>
        </p:nvSpPr>
        <p:spPr>
          <a:xfrm>
            <a:off x="11244277" y="6521725"/>
            <a:ext cx="2628900" cy="1538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PAGE </a:t>
            </a:r>
            <a:r>
              <a:rPr lang="en-US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15</a:t>
            </a:r>
          </a:p>
        </p:txBody>
      </p:sp>
      <p:sp>
        <p:nvSpPr>
          <p:cNvPr id="7" name="Title 10">
            <a:extLst>
              <a:ext uri="{FF2B5EF4-FFF2-40B4-BE49-F238E27FC236}">
                <a16:creationId xmlns:a16="http://schemas.microsoft.com/office/drawing/2014/main" id="{B72E97EB-DCF3-2054-7889-166005067345}"/>
              </a:ext>
            </a:extLst>
          </p:cNvPr>
          <p:cNvSpPr txBox="1">
            <a:spLocks/>
          </p:cNvSpPr>
          <p:nvPr/>
        </p:nvSpPr>
        <p:spPr>
          <a:xfrm>
            <a:off x="812381" y="0"/>
            <a:ext cx="10907670" cy="64422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3.</a:t>
            </a:r>
            <a:r>
              <a:rPr lang="en-US" sz="40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StoreConnector và StoreBuilder</a:t>
            </a:r>
            <a:endParaRPr lang="en-US" sz="3200" b="1">
              <a:solidFill>
                <a:srgbClr val="CD1D1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Picture 4" descr="Tải mẫu logo trường đại học Bách Khoa Đà Nẵng (DUT) file ...">
            <a:extLst>
              <a:ext uri="{FF2B5EF4-FFF2-40B4-BE49-F238E27FC236}">
                <a16:creationId xmlns:a16="http://schemas.microsoft.com/office/drawing/2014/main" id="{C0A657FE-6593-2990-C613-2A50524BA1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51" y="136311"/>
            <a:ext cx="464878" cy="46487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9CC20CD-D9C4-1741-7959-AF2DB229BBC7}"/>
              </a:ext>
            </a:extLst>
          </p:cNvPr>
          <p:cNvCxnSpPr>
            <a:cxnSpLocks/>
          </p:cNvCxnSpPr>
          <p:nvPr/>
        </p:nvCxnSpPr>
        <p:spPr>
          <a:xfrm>
            <a:off x="6800033" y="1270967"/>
            <a:ext cx="0" cy="4514691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D4FDF9C-7415-5F80-F2FC-8D96B93C7821}"/>
              </a:ext>
            </a:extLst>
          </p:cNvPr>
          <p:cNvSpPr txBox="1"/>
          <p:nvPr/>
        </p:nvSpPr>
        <p:spPr>
          <a:xfrm>
            <a:off x="6840978" y="1340148"/>
            <a:ext cx="5305534" cy="120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StoreBuilder: Toàn quyền truy cập vào Store</a:t>
            </a:r>
          </a:p>
          <a:p>
            <a:pPr>
              <a:lnSpc>
                <a:spcPct val="125000"/>
              </a:lnSpc>
            </a:pPr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- Có thể lấy toàn bộ state (dữ liệu hiện tại)</a:t>
            </a:r>
          </a:p>
          <a:p>
            <a:pPr>
              <a:lnSpc>
                <a:spcPct val="125000"/>
              </a:lnSpc>
            </a:pPr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- Gửi action (cập nhật dữ liệu)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D0459F-47AD-2035-CA3E-FF58E5036F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r="6982"/>
          <a:stretch>
            <a:fillRect/>
          </a:stretch>
        </p:blipFill>
        <p:spPr>
          <a:xfrm>
            <a:off x="145698" y="1408751"/>
            <a:ext cx="6386286" cy="39275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8323E0F-9043-0173-FE0D-DC0B88C37F31}"/>
              </a:ext>
            </a:extLst>
          </p:cNvPr>
          <p:cNvSpPr txBox="1"/>
          <p:nvPr/>
        </p:nvSpPr>
        <p:spPr>
          <a:xfrm>
            <a:off x="89805" y="846160"/>
            <a:ext cx="22712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main.dart</a:t>
            </a:r>
          </a:p>
        </p:txBody>
      </p:sp>
    </p:spTree>
    <p:extLst>
      <p:ext uri="{BB962C8B-B14F-4D97-AF65-F5344CB8AC3E}">
        <p14:creationId xmlns:p14="http://schemas.microsoft.com/office/powerpoint/2010/main" val="612872529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61805-F1DF-7DFB-2D02-D6C82287E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E000F4-B44D-C217-BD19-2ED0AF40CECE}"/>
              </a:ext>
            </a:extLst>
          </p:cNvPr>
          <p:cNvSpPr/>
          <p:nvPr/>
        </p:nvSpPr>
        <p:spPr>
          <a:xfrm>
            <a:off x="0" y="6288"/>
            <a:ext cx="12192000" cy="68727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8889BEB-FE45-0FCB-FC30-CFB3802D472F}"/>
              </a:ext>
            </a:extLst>
          </p:cNvPr>
          <p:cNvSpPr txBox="1">
            <a:spLocks/>
          </p:cNvSpPr>
          <p:nvPr/>
        </p:nvSpPr>
        <p:spPr>
          <a:xfrm>
            <a:off x="11244277" y="6521725"/>
            <a:ext cx="2628900" cy="1538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PAGE </a:t>
            </a:r>
            <a:r>
              <a:rPr lang="en-US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15</a:t>
            </a:r>
          </a:p>
        </p:txBody>
      </p:sp>
      <p:sp>
        <p:nvSpPr>
          <p:cNvPr id="7" name="Title 10">
            <a:extLst>
              <a:ext uri="{FF2B5EF4-FFF2-40B4-BE49-F238E27FC236}">
                <a16:creationId xmlns:a16="http://schemas.microsoft.com/office/drawing/2014/main" id="{987FF1A5-C92A-B88E-F6A5-E1FEBC8B33B6}"/>
              </a:ext>
            </a:extLst>
          </p:cNvPr>
          <p:cNvSpPr txBox="1">
            <a:spLocks/>
          </p:cNvSpPr>
          <p:nvPr/>
        </p:nvSpPr>
        <p:spPr>
          <a:xfrm>
            <a:off x="812381" y="0"/>
            <a:ext cx="10907670" cy="64422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3.</a:t>
            </a:r>
            <a:r>
              <a:rPr lang="en-US" sz="40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StoreConnector và StoreBuilder</a:t>
            </a:r>
            <a:endParaRPr lang="en-US" sz="3200" b="1">
              <a:solidFill>
                <a:srgbClr val="CD1D1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Picture 4" descr="Tải mẫu logo trường đại học Bách Khoa Đà Nẵng (DUT) file ...">
            <a:extLst>
              <a:ext uri="{FF2B5EF4-FFF2-40B4-BE49-F238E27FC236}">
                <a16:creationId xmlns:a16="http://schemas.microsoft.com/office/drawing/2014/main" id="{7AA4A1AF-A6F2-F895-F151-2B9658C96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51" y="136311"/>
            <a:ext cx="464878" cy="46487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D607537-6DB5-31C2-8CA1-FD6D89D54AB1}"/>
              </a:ext>
            </a:extLst>
          </p:cNvPr>
          <p:cNvCxnSpPr>
            <a:cxnSpLocks/>
          </p:cNvCxnSpPr>
          <p:nvPr/>
        </p:nvCxnSpPr>
        <p:spPr>
          <a:xfrm>
            <a:off x="6458836" y="1270967"/>
            <a:ext cx="0" cy="4514691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C154AB4-11C5-1BDA-66BA-08AF274D42BA}"/>
              </a:ext>
            </a:extLst>
          </p:cNvPr>
          <p:cNvSpPr txBox="1"/>
          <p:nvPr/>
        </p:nvSpPr>
        <p:spPr>
          <a:xfrm>
            <a:off x="6480030" y="1216375"/>
            <a:ext cx="5305534" cy="120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StoreBuilder: Toàn quyền truy cập vào Store</a:t>
            </a:r>
          </a:p>
          <a:p>
            <a:pPr>
              <a:lnSpc>
                <a:spcPct val="125000"/>
              </a:lnSpc>
            </a:pPr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- Có thể lấy toàn bộ state (dữ liệu hiện tại)</a:t>
            </a:r>
          </a:p>
          <a:p>
            <a:pPr>
              <a:lnSpc>
                <a:spcPct val="125000"/>
              </a:lnSpc>
            </a:pPr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- Gửi action (cập nhật dữ liệu)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1E7731-3FBB-A434-C72A-F1ED12F68A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6407" y="1270967"/>
            <a:ext cx="6181229" cy="36735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E57D959-A26E-C356-503D-54B35BDB1B3F}"/>
              </a:ext>
            </a:extLst>
          </p:cNvPr>
          <p:cNvSpPr txBox="1"/>
          <p:nvPr/>
        </p:nvSpPr>
        <p:spPr>
          <a:xfrm>
            <a:off x="321821" y="777920"/>
            <a:ext cx="22712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main.dart</a:t>
            </a:r>
          </a:p>
        </p:txBody>
      </p:sp>
    </p:spTree>
    <p:extLst>
      <p:ext uri="{BB962C8B-B14F-4D97-AF65-F5344CB8AC3E}">
        <p14:creationId xmlns:p14="http://schemas.microsoft.com/office/powerpoint/2010/main" val="1789294147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7DD2D-E4E2-93EE-807D-52FC6B69E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77A8588-28F9-1FD2-0103-37248731B6E3}"/>
              </a:ext>
            </a:extLst>
          </p:cNvPr>
          <p:cNvSpPr/>
          <p:nvPr/>
        </p:nvSpPr>
        <p:spPr>
          <a:xfrm>
            <a:off x="0" y="6288"/>
            <a:ext cx="12192000" cy="68727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E781200-4371-346E-F281-FF47809771AB}"/>
              </a:ext>
            </a:extLst>
          </p:cNvPr>
          <p:cNvSpPr txBox="1">
            <a:spLocks/>
          </p:cNvSpPr>
          <p:nvPr/>
        </p:nvSpPr>
        <p:spPr>
          <a:xfrm>
            <a:off x="11244277" y="6521725"/>
            <a:ext cx="2628900" cy="1538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PAGE </a:t>
            </a:r>
            <a:r>
              <a:rPr lang="en-US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15</a:t>
            </a:r>
          </a:p>
        </p:txBody>
      </p:sp>
      <p:sp>
        <p:nvSpPr>
          <p:cNvPr id="7" name="Title 10">
            <a:extLst>
              <a:ext uri="{FF2B5EF4-FFF2-40B4-BE49-F238E27FC236}">
                <a16:creationId xmlns:a16="http://schemas.microsoft.com/office/drawing/2014/main" id="{56D6A0A0-407E-3F27-F6F8-1B5D14FF541D}"/>
              </a:ext>
            </a:extLst>
          </p:cNvPr>
          <p:cNvSpPr txBox="1">
            <a:spLocks/>
          </p:cNvSpPr>
          <p:nvPr/>
        </p:nvSpPr>
        <p:spPr>
          <a:xfrm>
            <a:off x="812381" y="70164"/>
            <a:ext cx="10907670" cy="464879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3.</a:t>
            </a:r>
            <a:r>
              <a:rPr lang="en-US" sz="40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StoreConnector và StoreBuilder</a:t>
            </a:r>
            <a:endParaRPr lang="en-US" sz="3200" b="1">
              <a:solidFill>
                <a:srgbClr val="CD1D1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Picture 4" descr="Tải mẫu logo trường đại học Bách Khoa Đà Nẵng (DUT) file ...">
            <a:extLst>
              <a:ext uri="{FF2B5EF4-FFF2-40B4-BE49-F238E27FC236}">
                <a16:creationId xmlns:a16="http://schemas.microsoft.com/office/drawing/2014/main" id="{F1074BEF-C091-1407-2DAA-9B4E9B2A5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55" y="109015"/>
            <a:ext cx="464878" cy="46487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0DD639E-F5D7-408F-4761-4D03496868E3}"/>
              </a:ext>
            </a:extLst>
          </p:cNvPr>
          <p:cNvSpPr txBox="1"/>
          <p:nvPr/>
        </p:nvSpPr>
        <p:spPr>
          <a:xfrm>
            <a:off x="7009526" y="1186051"/>
            <a:ext cx="5036018" cy="274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StoreConnector: C</a:t>
            </a:r>
            <a:r>
              <a:rPr lang="vi-VN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huyển đổi</a:t>
            </a:r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vi-VN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AppState thành một dữ liệu nhỏ hơn</a:t>
            </a:r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(danh sách sản phẩm).</a:t>
            </a:r>
          </a:p>
          <a:p>
            <a:pPr algn="just">
              <a:lnSpc>
                <a:spcPct val="125000"/>
              </a:lnSpc>
            </a:pPr>
            <a:endParaRPr lang="en-US" sz="20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Danh sách products thay đổi =&gt; rebuild UI</a:t>
            </a:r>
          </a:p>
          <a:p>
            <a:pPr marL="342900" indent="-342900" algn="just">
              <a:lnSpc>
                <a:spcPct val="125000"/>
              </a:lnSpc>
              <a:buFont typeface="Wingdings" panose="05000000000000000000" pitchFamily="2" charset="2"/>
              <a:buChar char="§"/>
            </a:pPr>
            <a:endParaRPr lang="en-US" sz="20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F24350D-3EBA-291C-7EB3-B1D5F8DDBB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6455" y="1282390"/>
            <a:ext cx="5245290" cy="149704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BDA5716-46F1-F228-2E7C-D016AD4A80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r="2340"/>
          <a:stretch>
            <a:fillRect/>
          </a:stretch>
        </p:blipFill>
        <p:spPr>
          <a:xfrm>
            <a:off x="146455" y="2908028"/>
            <a:ext cx="6856568" cy="3473617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432A914-A37E-500E-CFFC-E74712DABCDD}"/>
              </a:ext>
            </a:extLst>
          </p:cNvPr>
          <p:cNvCxnSpPr>
            <a:cxnSpLocks/>
          </p:cNvCxnSpPr>
          <p:nvPr/>
        </p:nvCxnSpPr>
        <p:spPr>
          <a:xfrm>
            <a:off x="7003023" y="1186051"/>
            <a:ext cx="0" cy="5335674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CEAFA2E-D2AC-883E-6622-BAF073D9F95C}"/>
              </a:ext>
            </a:extLst>
          </p:cNvPr>
          <p:cNvSpPr txBox="1"/>
          <p:nvPr/>
        </p:nvSpPr>
        <p:spPr>
          <a:xfrm>
            <a:off x="103453" y="709680"/>
            <a:ext cx="22712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main.dart</a:t>
            </a:r>
          </a:p>
        </p:txBody>
      </p:sp>
    </p:spTree>
    <p:extLst>
      <p:ext uri="{BB962C8B-B14F-4D97-AF65-F5344CB8AC3E}">
        <p14:creationId xmlns:p14="http://schemas.microsoft.com/office/powerpoint/2010/main" val="4176897838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06121-681F-9766-F383-96AE1FA99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9C42631-91D8-4170-CC0B-11E3C1FC4549}"/>
              </a:ext>
            </a:extLst>
          </p:cNvPr>
          <p:cNvSpPr/>
          <p:nvPr/>
        </p:nvSpPr>
        <p:spPr>
          <a:xfrm>
            <a:off x="-1" y="0"/>
            <a:ext cx="12192001" cy="68727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DE1DA11-AD75-8318-9A30-B6362DEBB8C6}"/>
              </a:ext>
            </a:extLst>
          </p:cNvPr>
          <p:cNvSpPr txBox="1">
            <a:spLocks/>
          </p:cNvSpPr>
          <p:nvPr/>
        </p:nvSpPr>
        <p:spPr>
          <a:xfrm>
            <a:off x="1618497" y="985249"/>
            <a:ext cx="7778496" cy="1879261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endParaRPr lang="vi-VN" sz="4400" b="1"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20000" endPos="45500" dir="5400000" sy="-100000" algn="bl" rotWithShape="0"/>
              </a:effectLst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A7B5D3-1629-3806-8340-07FB8510DBA3}"/>
              </a:ext>
            </a:extLst>
          </p:cNvPr>
          <p:cNvSpPr txBox="1">
            <a:spLocks/>
          </p:cNvSpPr>
          <p:nvPr/>
        </p:nvSpPr>
        <p:spPr>
          <a:xfrm>
            <a:off x="1492778" y="1126475"/>
            <a:ext cx="9312407" cy="1637808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4400" b="1" err="1"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Đề</a:t>
            </a:r>
            <a:r>
              <a:rPr lang="en-US" sz="4400" b="1"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err="1"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tài</a:t>
            </a:r>
            <a:r>
              <a:rPr lang="en-US" sz="4400" b="1"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Redux Pattern trong Flutter</a:t>
            </a:r>
            <a:endParaRPr lang="vi-VN" sz="4400" b="1">
              <a:solidFill>
                <a:srgbClr val="0000CC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20000" endPos="45500" dir="5400000" sy="-100000" algn="bl" rotWithShape="0"/>
              </a:effectLst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CCE000A-19AB-DA08-08BD-F879B06F5950}"/>
              </a:ext>
            </a:extLst>
          </p:cNvPr>
          <p:cNvSpPr txBox="1">
            <a:spLocks/>
          </p:cNvSpPr>
          <p:nvPr/>
        </p:nvSpPr>
        <p:spPr>
          <a:xfrm>
            <a:off x="11310785" y="6554840"/>
            <a:ext cx="2628900" cy="1538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PAGE </a:t>
            </a:r>
            <a:r>
              <a:rPr lang="en-US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54279D0-051F-B465-55D8-733F7CA4953D}"/>
              </a:ext>
            </a:extLst>
          </p:cNvPr>
          <p:cNvSpPr txBox="1">
            <a:spLocks/>
          </p:cNvSpPr>
          <p:nvPr/>
        </p:nvSpPr>
        <p:spPr>
          <a:xfrm>
            <a:off x="756830" y="2084724"/>
            <a:ext cx="10784301" cy="43708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b="1">
              <a:solidFill>
                <a:srgbClr val="61616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b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1. </a:t>
            </a:r>
            <a:r>
              <a:rPr lang="en-US" sz="2400" b="1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Giới</a:t>
            </a:r>
            <a:r>
              <a:rPr lang="en-US" sz="2400" b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thiệu tổng quan </a:t>
            </a:r>
          </a:p>
          <a:p>
            <a:pPr marL="0" indent="0">
              <a:buNone/>
            </a:pPr>
            <a:r>
              <a:rPr lang="en-US" sz="2400" b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2. Store, Actions, Reducers concepts</a:t>
            </a:r>
          </a:p>
          <a:p>
            <a:pPr marL="0" indent="0">
              <a:buNone/>
            </a:pPr>
            <a:r>
              <a:rPr lang="en-US" sz="2400" b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3. StoreConnector và StoreBuilder</a:t>
            </a:r>
          </a:p>
          <a:p>
            <a:pPr marL="0" indent="0">
              <a:buNone/>
            </a:pPr>
            <a:r>
              <a:rPr 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4. Middleware và side effects</a:t>
            </a:r>
          </a:p>
          <a:p>
            <a:pPr marL="0" indent="0">
              <a:buNone/>
            </a:pPr>
            <a:r>
              <a:rPr lang="en-US" sz="2400" b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5. Time-travel debugging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A39498E-6A35-D5B5-8BCB-438934A89BD6}"/>
              </a:ext>
            </a:extLst>
          </p:cNvPr>
          <p:cNvSpPr txBox="1">
            <a:spLocks/>
          </p:cNvSpPr>
          <p:nvPr/>
        </p:nvSpPr>
        <p:spPr>
          <a:xfrm>
            <a:off x="1136915" y="335889"/>
            <a:ext cx="3355800" cy="411471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8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TRƯỜNG ĐẠI HỌC BÁCH KHOA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036A68CA-B6D9-97B2-6CDA-897A5064DA39}"/>
              </a:ext>
            </a:extLst>
          </p:cNvPr>
          <p:cNvSpPr txBox="1">
            <a:spLocks/>
          </p:cNvSpPr>
          <p:nvPr/>
        </p:nvSpPr>
        <p:spPr>
          <a:xfrm>
            <a:off x="1136915" y="105829"/>
            <a:ext cx="2063487" cy="38219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800" b="1" i="0" u="none" strike="noStrike" kern="1200" cap="none" spc="0" normalizeH="0" baseline="0" noProof="0">
                <a:ln>
                  <a:noFill/>
                </a:ln>
                <a:solidFill>
                  <a:srgbClr val="616163"/>
                </a:solidFill>
                <a:effectLst>
                  <a:outerShdw blurRad="50800" dist="38100" dir="2700000" algn="tl" rotWithShape="0">
                    <a:prstClr val="black">
                      <a:alpha val="20000"/>
                    </a:prstClr>
                  </a:outerShdw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ĐẠI HỌC ĐÀ NẴNG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616163"/>
              </a:solidFill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4" descr="Tải mẫu logo trường đại học Bách Khoa Đà Nẵng (DUT) file ...">
            <a:extLst>
              <a:ext uri="{FF2B5EF4-FFF2-40B4-BE49-F238E27FC236}">
                <a16:creationId xmlns:a16="http://schemas.microsoft.com/office/drawing/2014/main" id="{59907D7D-DDB5-9058-C649-F304FC266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51" y="136311"/>
            <a:ext cx="963164" cy="96316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74A1318E-5DBC-6333-9861-F079563DC1F4}"/>
              </a:ext>
            </a:extLst>
          </p:cNvPr>
          <p:cNvSpPr txBox="1">
            <a:spLocks/>
          </p:cNvSpPr>
          <p:nvPr/>
        </p:nvSpPr>
        <p:spPr>
          <a:xfrm>
            <a:off x="1221961" y="728923"/>
            <a:ext cx="3127764" cy="41147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800" b="1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KHOA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ĐIỆN TỬ - VIỄN THÔNG</a:t>
            </a:r>
            <a:endParaRPr kumimoji="0" lang="vi-VN" sz="1800" b="1" i="0" u="none" strike="noStrike" kern="1200" cap="none" spc="0" normalizeH="0" baseline="0" noProof="0">
              <a:ln>
                <a:noFill/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968576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8D9CC-2012-D34F-7968-14D00CF4F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B843DE9-CFDF-D950-8201-2802C5F93685}"/>
              </a:ext>
            </a:extLst>
          </p:cNvPr>
          <p:cNvSpPr/>
          <p:nvPr/>
        </p:nvSpPr>
        <p:spPr>
          <a:xfrm>
            <a:off x="0" y="6288"/>
            <a:ext cx="12192000" cy="68727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0F04199-C3D1-E946-D315-F13D048DFC18}"/>
              </a:ext>
            </a:extLst>
          </p:cNvPr>
          <p:cNvSpPr txBox="1">
            <a:spLocks/>
          </p:cNvSpPr>
          <p:nvPr/>
        </p:nvSpPr>
        <p:spPr>
          <a:xfrm>
            <a:off x="11244277" y="6521725"/>
            <a:ext cx="2628900" cy="1538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PAGE </a:t>
            </a:r>
            <a:r>
              <a:rPr lang="en-US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16</a:t>
            </a:r>
          </a:p>
        </p:txBody>
      </p:sp>
      <p:sp>
        <p:nvSpPr>
          <p:cNvPr id="7" name="Title 10">
            <a:extLst>
              <a:ext uri="{FF2B5EF4-FFF2-40B4-BE49-F238E27FC236}">
                <a16:creationId xmlns:a16="http://schemas.microsoft.com/office/drawing/2014/main" id="{BE2117AD-5F5D-360D-DA1F-3A5E83E67F90}"/>
              </a:ext>
            </a:extLst>
          </p:cNvPr>
          <p:cNvSpPr txBox="1">
            <a:spLocks/>
          </p:cNvSpPr>
          <p:nvPr/>
        </p:nvSpPr>
        <p:spPr>
          <a:xfrm>
            <a:off x="812381" y="0"/>
            <a:ext cx="10907670" cy="64422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4.</a:t>
            </a:r>
            <a:r>
              <a:rPr lang="en-US" sz="40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Middleware và side effects</a:t>
            </a:r>
            <a:endParaRPr lang="en-US" sz="3200" b="1">
              <a:solidFill>
                <a:srgbClr val="CD1D1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Picture 4" descr="Tải mẫu logo trường đại học Bách Khoa Đà Nẵng (DUT) file ...">
            <a:extLst>
              <a:ext uri="{FF2B5EF4-FFF2-40B4-BE49-F238E27FC236}">
                <a16:creationId xmlns:a16="http://schemas.microsoft.com/office/drawing/2014/main" id="{AFBA9F2D-5859-5C09-A537-40A5E369D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51" y="136311"/>
            <a:ext cx="464878" cy="46487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1309BA0-3208-43C1-3C30-AAF3957C430B}"/>
              </a:ext>
            </a:extLst>
          </p:cNvPr>
          <p:cNvSpPr txBox="1"/>
          <p:nvPr/>
        </p:nvSpPr>
        <p:spPr>
          <a:xfrm>
            <a:off x="1007718" y="1516087"/>
            <a:ext cx="10516995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Middleware </a:t>
            </a:r>
            <a:r>
              <a:rPr lang="vi-VN" sz="24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là lớp trung gian cho phép can thiệp vào quá trình xử lý Action trước khi đến Reducer.</a:t>
            </a:r>
            <a:endParaRPr lang="en-US" sz="24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4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Dùng để xử lý:</a:t>
            </a:r>
          </a:p>
          <a:p>
            <a:pPr marL="800100" lvl="1" indent="-3429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Side effects (gọi API, ghi log, hiển thị thông báo nhỏ,…)</a:t>
            </a:r>
          </a:p>
          <a:p>
            <a:pPr marL="800100" lvl="1" indent="-3429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Hành vi bất đồng bộ (async)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US" sz="24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2120174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61270-275B-0090-0FEB-70148A2A9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5232780-D6BF-440F-B27E-DB659F36EED8}"/>
              </a:ext>
            </a:extLst>
          </p:cNvPr>
          <p:cNvSpPr/>
          <p:nvPr/>
        </p:nvSpPr>
        <p:spPr>
          <a:xfrm>
            <a:off x="0" y="6288"/>
            <a:ext cx="12192000" cy="68727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4AE738F-D58F-8B1D-89D9-39B53786D5CE}"/>
              </a:ext>
            </a:extLst>
          </p:cNvPr>
          <p:cNvSpPr txBox="1">
            <a:spLocks/>
          </p:cNvSpPr>
          <p:nvPr/>
        </p:nvSpPr>
        <p:spPr>
          <a:xfrm>
            <a:off x="11244277" y="6521725"/>
            <a:ext cx="2628900" cy="1538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PAGE </a:t>
            </a:r>
            <a:r>
              <a:rPr lang="en-US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16</a:t>
            </a:r>
          </a:p>
        </p:txBody>
      </p:sp>
      <p:sp>
        <p:nvSpPr>
          <p:cNvPr id="7" name="Title 10">
            <a:extLst>
              <a:ext uri="{FF2B5EF4-FFF2-40B4-BE49-F238E27FC236}">
                <a16:creationId xmlns:a16="http://schemas.microsoft.com/office/drawing/2014/main" id="{9087283E-3D3E-AFF7-FE50-010C8CD053E6}"/>
              </a:ext>
            </a:extLst>
          </p:cNvPr>
          <p:cNvSpPr txBox="1">
            <a:spLocks/>
          </p:cNvSpPr>
          <p:nvPr/>
        </p:nvSpPr>
        <p:spPr>
          <a:xfrm>
            <a:off x="812381" y="0"/>
            <a:ext cx="10907670" cy="64422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4.</a:t>
            </a:r>
            <a:r>
              <a:rPr lang="en-US" sz="40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Middleware và side effects</a:t>
            </a:r>
            <a:endParaRPr lang="en-US" sz="3200" b="1">
              <a:solidFill>
                <a:srgbClr val="CD1D1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Picture 4" descr="Tải mẫu logo trường đại học Bách Khoa Đà Nẵng (DUT) file ...">
            <a:extLst>
              <a:ext uri="{FF2B5EF4-FFF2-40B4-BE49-F238E27FC236}">
                <a16:creationId xmlns:a16="http://schemas.microsoft.com/office/drawing/2014/main" id="{1629E374-56FD-20A7-205F-5D299A1E24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51" y="136311"/>
            <a:ext cx="464878" cy="46487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C0EF01-6952-6087-2838-82DE6CF2AE25}"/>
              </a:ext>
            </a:extLst>
          </p:cNvPr>
          <p:cNvCxnSpPr>
            <a:cxnSpLocks/>
          </p:cNvCxnSpPr>
          <p:nvPr/>
        </p:nvCxnSpPr>
        <p:spPr>
          <a:xfrm>
            <a:off x="4282179" y="1058519"/>
            <a:ext cx="5115" cy="4971887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9FF6CA1B-B97A-6475-68A1-A67834409A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68345" y="1058519"/>
            <a:ext cx="7577555" cy="454000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CCDD67A-BF51-CB64-F8D9-8ED10724B1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0707" y="1067632"/>
            <a:ext cx="3591670" cy="21941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20885D-3840-7841-0D32-E5C143C0EBB8}"/>
              </a:ext>
            </a:extLst>
          </p:cNvPr>
          <p:cNvSpPr txBox="1"/>
          <p:nvPr/>
        </p:nvSpPr>
        <p:spPr>
          <a:xfrm>
            <a:off x="420708" y="2329258"/>
            <a:ext cx="3586556" cy="31839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970369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E4AF8-82F4-5263-850D-809EC114B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535202B-DA85-B452-9D3F-22D892A53A0F}"/>
              </a:ext>
            </a:extLst>
          </p:cNvPr>
          <p:cNvSpPr/>
          <p:nvPr/>
        </p:nvSpPr>
        <p:spPr>
          <a:xfrm>
            <a:off x="0" y="6288"/>
            <a:ext cx="12192000" cy="68727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093A805-B76E-65FE-D689-DB8478A1A740}"/>
              </a:ext>
            </a:extLst>
          </p:cNvPr>
          <p:cNvSpPr txBox="1">
            <a:spLocks/>
          </p:cNvSpPr>
          <p:nvPr/>
        </p:nvSpPr>
        <p:spPr>
          <a:xfrm>
            <a:off x="11244277" y="6521725"/>
            <a:ext cx="2628900" cy="1538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PAGE </a:t>
            </a:r>
            <a:r>
              <a:rPr lang="en-US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16</a:t>
            </a:r>
          </a:p>
        </p:txBody>
      </p:sp>
      <p:sp>
        <p:nvSpPr>
          <p:cNvPr id="7" name="Title 10">
            <a:extLst>
              <a:ext uri="{FF2B5EF4-FFF2-40B4-BE49-F238E27FC236}">
                <a16:creationId xmlns:a16="http://schemas.microsoft.com/office/drawing/2014/main" id="{68ED45CD-49F6-929D-30CA-9478EB4C292C}"/>
              </a:ext>
            </a:extLst>
          </p:cNvPr>
          <p:cNvSpPr txBox="1">
            <a:spLocks/>
          </p:cNvSpPr>
          <p:nvPr/>
        </p:nvSpPr>
        <p:spPr>
          <a:xfrm>
            <a:off x="812381" y="0"/>
            <a:ext cx="10907670" cy="64422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4.</a:t>
            </a:r>
            <a:r>
              <a:rPr lang="en-US" sz="40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Middleware và side effects</a:t>
            </a:r>
            <a:endParaRPr lang="en-US" sz="3200" b="1">
              <a:solidFill>
                <a:srgbClr val="CD1D1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Picture 4" descr="Tải mẫu logo trường đại học Bách Khoa Đà Nẵng (DUT) file ...">
            <a:extLst>
              <a:ext uri="{FF2B5EF4-FFF2-40B4-BE49-F238E27FC236}">
                <a16:creationId xmlns:a16="http://schemas.microsoft.com/office/drawing/2014/main" id="{20DB1C31-6701-2123-D84A-9E7839C39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51" y="136311"/>
            <a:ext cx="464878" cy="46487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B55652C-9E6C-04C7-3799-4C65B1BA89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3751" y="976633"/>
            <a:ext cx="7577555" cy="4540001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5B4E6B4-FE80-3F78-8EFF-35E46BCF54C2}"/>
              </a:ext>
            </a:extLst>
          </p:cNvPr>
          <p:cNvCxnSpPr>
            <a:cxnSpLocks/>
          </p:cNvCxnSpPr>
          <p:nvPr/>
        </p:nvCxnSpPr>
        <p:spPr>
          <a:xfrm>
            <a:off x="7728093" y="909480"/>
            <a:ext cx="5115" cy="4971887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E9C33E5-47BA-CBB1-CD91-297527AA72CE}"/>
              </a:ext>
            </a:extLst>
          </p:cNvPr>
          <p:cNvSpPr txBox="1"/>
          <p:nvPr/>
        </p:nvSpPr>
        <p:spPr>
          <a:xfrm>
            <a:off x="7861110" y="853801"/>
            <a:ext cx="398514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Tx/>
              <a:buChar char="-"/>
            </a:pPr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loggingMiddleware(): Ghi tên hành động và in ra trạng thái mới</a:t>
            </a:r>
          </a:p>
          <a:p>
            <a:pPr marL="342900" indent="-342900" algn="just">
              <a:buFontTx/>
              <a:buChar char="-"/>
            </a:pPr>
            <a:endParaRPr lang="en-US" sz="20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>
              <a:buFontTx/>
              <a:buChar char="-"/>
            </a:pPr>
            <a:endParaRPr lang="en-US" sz="20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>
              <a:buFontTx/>
              <a:buChar char="-"/>
            </a:pPr>
            <a:endParaRPr lang="en-US" sz="20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>
              <a:buFontTx/>
              <a:buChar char="-"/>
            </a:pPr>
            <a:endParaRPr lang="en-US" sz="20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>
              <a:buFontTx/>
              <a:buChar char="-"/>
            </a:pPr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asyncMiddleware(): Tạo một việc làm không đồng bộ.</a:t>
            </a:r>
          </a:p>
        </p:txBody>
      </p:sp>
    </p:spTree>
    <p:extLst>
      <p:ext uri="{BB962C8B-B14F-4D97-AF65-F5344CB8AC3E}">
        <p14:creationId xmlns:p14="http://schemas.microsoft.com/office/powerpoint/2010/main" val="2515225881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4DEE9-B61C-4388-57B6-30D8D6285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6859FD-7C22-8B26-C4B3-C6825EA7961B}"/>
              </a:ext>
            </a:extLst>
          </p:cNvPr>
          <p:cNvSpPr/>
          <p:nvPr/>
        </p:nvSpPr>
        <p:spPr>
          <a:xfrm>
            <a:off x="0" y="6288"/>
            <a:ext cx="12192000" cy="68727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59C42EC-6436-26A9-3FB7-50F0F029D041}"/>
              </a:ext>
            </a:extLst>
          </p:cNvPr>
          <p:cNvSpPr txBox="1">
            <a:spLocks/>
          </p:cNvSpPr>
          <p:nvPr/>
        </p:nvSpPr>
        <p:spPr>
          <a:xfrm>
            <a:off x="11244277" y="6521725"/>
            <a:ext cx="2628900" cy="1538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PAGE </a:t>
            </a:r>
            <a:r>
              <a:rPr lang="en-US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16</a:t>
            </a:r>
          </a:p>
        </p:txBody>
      </p:sp>
      <p:sp>
        <p:nvSpPr>
          <p:cNvPr id="7" name="Title 10">
            <a:extLst>
              <a:ext uri="{FF2B5EF4-FFF2-40B4-BE49-F238E27FC236}">
                <a16:creationId xmlns:a16="http://schemas.microsoft.com/office/drawing/2014/main" id="{EDABE252-5425-A145-EEA9-DC9850819018}"/>
              </a:ext>
            </a:extLst>
          </p:cNvPr>
          <p:cNvSpPr txBox="1">
            <a:spLocks/>
          </p:cNvSpPr>
          <p:nvPr/>
        </p:nvSpPr>
        <p:spPr>
          <a:xfrm>
            <a:off x="812381" y="0"/>
            <a:ext cx="10907670" cy="64422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4.</a:t>
            </a:r>
            <a:r>
              <a:rPr lang="en-US" sz="40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Middleware và side effects</a:t>
            </a:r>
            <a:endParaRPr lang="en-US" sz="3200" b="1">
              <a:solidFill>
                <a:srgbClr val="CD1D1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Picture 4" descr="Tải mẫu logo trường đại học Bách Khoa Đà Nẵng (DUT) file ...">
            <a:extLst>
              <a:ext uri="{FF2B5EF4-FFF2-40B4-BE49-F238E27FC236}">
                <a16:creationId xmlns:a16="http://schemas.microsoft.com/office/drawing/2014/main" id="{7438E8E5-A9B7-791A-B633-8D7B6EC3E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51" y="136311"/>
            <a:ext cx="464878" cy="46487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34A8E1-02E6-BF4D-78B9-8339B83CA5A5}"/>
              </a:ext>
            </a:extLst>
          </p:cNvPr>
          <p:cNvSpPr txBox="1"/>
          <p:nvPr/>
        </p:nvSpPr>
        <p:spPr>
          <a:xfrm>
            <a:off x="638629" y="1304177"/>
            <a:ext cx="91231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Tx/>
              <a:buChar char="-"/>
            </a:pPr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loggingMiddleware(): Ghi tên hành động và in ra trạng thái mới</a:t>
            </a:r>
          </a:p>
          <a:p>
            <a:pPr marL="342900" indent="-342900" algn="just">
              <a:buFontTx/>
              <a:buChar char="-"/>
            </a:pPr>
            <a:endParaRPr lang="en-US" sz="20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 algn="just">
              <a:buFontTx/>
              <a:buChar char="-"/>
            </a:pPr>
            <a:endParaRPr lang="en-US" sz="20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4C08C8-DCCA-3F66-ACD5-5A1157E45A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7120" y="1812008"/>
            <a:ext cx="10237158" cy="2096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365821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29844-4352-4ADA-FDD9-6E4AABB35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69B9A2D-D4CE-F270-2CF2-5A5983300049}"/>
              </a:ext>
            </a:extLst>
          </p:cNvPr>
          <p:cNvSpPr/>
          <p:nvPr/>
        </p:nvSpPr>
        <p:spPr>
          <a:xfrm>
            <a:off x="-1" y="0"/>
            <a:ext cx="12192001" cy="68727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BC111B6-05A0-D047-934D-400813CFB754}"/>
              </a:ext>
            </a:extLst>
          </p:cNvPr>
          <p:cNvSpPr txBox="1">
            <a:spLocks/>
          </p:cNvSpPr>
          <p:nvPr/>
        </p:nvSpPr>
        <p:spPr>
          <a:xfrm>
            <a:off x="1618497" y="985249"/>
            <a:ext cx="7778496" cy="1879261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endParaRPr lang="vi-VN" sz="4400" b="1"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20000" endPos="45500" dir="5400000" sy="-100000" algn="bl" rotWithShape="0"/>
              </a:effectLst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94575C-7137-AC0E-3724-8FC61A420BE0}"/>
              </a:ext>
            </a:extLst>
          </p:cNvPr>
          <p:cNvSpPr txBox="1">
            <a:spLocks/>
          </p:cNvSpPr>
          <p:nvPr/>
        </p:nvSpPr>
        <p:spPr>
          <a:xfrm>
            <a:off x="1492778" y="1126475"/>
            <a:ext cx="9312407" cy="1637808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4400" b="1" err="1"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Đề</a:t>
            </a:r>
            <a:r>
              <a:rPr lang="en-US" sz="4400" b="1"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err="1"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tài</a:t>
            </a:r>
            <a:r>
              <a:rPr lang="en-US" sz="4400" b="1"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Redux Pattern trong Flutter</a:t>
            </a:r>
            <a:endParaRPr lang="vi-VN" sz="4400" b="1">
              <a:solidFill>
                <a:srgbClr val="0000CC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20000" endPos="45500" dir="5400000" sy="-100000" algn="bl" rotWithShape="0"/>
              </a:effectLst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AD7C8A2-A207-7E16-5E27-D332C8FAAAE8}"/>
              </a:ext>
            </a:extLst>
          </p:cNvPr>
          <p:cNvSpPr txBox="1">
            <a:spLocks/>
          </p:cNvSpPr>
          <p:nvPr/>
        </p:nvSpPr>
        <p:spPr>
          <a:xfrm>
            <a:off x="11310785" y="6554840"/>
            <a:ext cx="2628900" cy="1538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PAGE </a:t>
            </a:r>
            <a:r>
              <a:rPr lang="en-US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CE9EFA-D42E-FC01-ACD2-B17E7C391F4A}"/>
              </a:ext>
            </a:extLst>
          </p:cNvPr>
          <p:cNvSpPr txBox="1">
            <a:spLocks/>
          </p:cNvSpPr>
          <p:nvPr/>
        </p:nvSpPr>
        <p:spPr>
          <a:xfrm>
            <a:off x="756830" y="2084724"/>
            <a:ext cx="10784301" cy="437080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b="1">
              <a:solidFill>
                <a:srgbClr val="61616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en-US" sz="2400" b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1. </a:t>
            </a:r>
            <a:r>
              <a:rPr lang="en-US" sz="2400" b="1" err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Giới</a:t>
            </a:r>
            <a:r>
              <a:rPr lang="en-US" sz="2400" b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thiệu tổng quan </a:t>
            </a:r>
          </a:p>
          <a:p>
            <a:pPr marL="0" indent="0">
              <a:buNone/>
            </a:pPr>
            <a:r>
              <a:rPr lang="en-US" sz="2400" b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2. Store, Actions, Reducers concepts</a:t>
            </a:r>
          </a:p>
          <a:p>
            <a:pPr marL="0" indent="0">
              <a:buNone/>
            </a:pPr>
            <a:r>
              <a:rPr lang="en-US" sz="2400" b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3. StoreConnector và StoreBuilder</a:t>
            </a:r>
          </a:p>
          <a:p>
            <a:pPr marL="0" indent="0">
              <a:buNone/>
            </a:pPr>
            <a:r>
              <a:rPr lang="en-US" sz="2400" b="1">
                <a:solidFill>
                  <a:schemeClr val="bg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4. Middleware và side effects</a:t>
            </a:r>
          </a:p>
          <a:p>
            <a:pPr marL="0" indent="0">
              <a:buNone/>
            </a:pPr>
            <a:r>
              <a:rPr lang="en-US" sz="2400" b="1">
                <a:solidFill>
                  <a:schemeClr val="bg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5. Time-travel debugging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119CEF1-A6CE-203A-79F6-C024AF1CBA38}"/>
              </a:ext>
            </a:extLst>
          </p:cNvPr>
          <p:cNvSpPr txBox="1">
            <a:spLocks/>
          </p:cNvSpPr>
          <p:nvPr/>
        </p:nvSpPr>
        <p:spPr>
          <a:xfrm>
            <a:off x="1136915" y="335889"/>
            <a:ext cx="3355800" cy="411471"/>
          </a:xfrm>
          <a:prstGeom prst="rect">
            <a:avLst/>
          </a:prstGeom>
          <a:solidFill>
            <a:schemeClr val="tx1"/>
          </a:solidFill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800" b="1" i="0" u="none" strike="noStrike" kern="1200" cap="none" spc="0" normalizeH="0" baseline="0" noProof="0">
                <a:ln>
                  <a:noFill/>
                </a:ln>
                <a:solidFill>
                  <a:srgbClr val="0000C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TRƯỜNG ĐẠI HỌC BÁCH KHOA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E912406-7F06-06CA-B060-315BE3B015C7}"/>
              </a:ext>
            </a:extLst>
          </p:cNvPr>
          <p:cNvSpPr txBox="1">
            <a:spLocks/>
          </p:cNvSpPr>
          <p:nvPr/>
        </p:nvSpPr>
        <p:spPr>
          <a:xfrm>
            <a:off x="1136915" y="105829"/>
            <a:ext cx="2063487" cy="38219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800" b="1" i="0" u="none" strike="noStrike" kern="1200" cap="none" spc="0" normalizeH="0" baseline="0" noProof="0">
                <a:ln>
                  <a:noFill/>
                </a:ln>
                <a:solidFill>
                  <a:srgbClr val="616163"/>
                </a:solidFill>
                <a:effectLst>
                  <a:outerShdw blurRad="50800" dist="38100" dir="2700000" algn="tl" rotWithShape="0">
                    <a:prstClr val="black">
                      <a:alpha val="20000"/>
                    </a:prstClr>
                  </a:outerShdw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ĐẠI HỌC ĐÀ NẴNG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616163"/>
              </a:solidFill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4" descr="Tải mẫu logo trường đại học Bách Khoa Đà Nẵng (DUT) file ...">
            <a:extLst>
              <a:ext uri="{FF2B5EF4-FFF2-40B4-BE49-F238E27FC236}">
                <a16:creationId xmlns:a16="http://schemas.microsoft.com/office/drawing/2014/main" id="{52BAB257-335D-9FF9-1827-A17A0E158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51" y="136311"/>
            <a:ext cx="963164" cy="96316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71D4A511-5FE0-936E-93A9-99565E472290}"/>
              </a:ext>
            </a:extLst>
          </p:cNvPr>
          <p:cNvSpPr txBox="1">
            <a:spLocks/>
          </p:cNvSpPr>
          <p:nvPr/>
        </p:nvSpPr>
        <p:spPr>
          <a:xfrm>
            <a:off x="1221961" y="728923"/>
            <a:ext cx="3127764" cy="41147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vi-VN" sz="1800" b="1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KHOA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ĐIỆN TỬ - VIỄN THÔNG</a:t>
            </a:r>
            <a:endParaRPr kumimoji="0" lang="vi-VN" sz="1800" b="1" i="0" u="none" strike="noStrike" kern="1200" cap="none" spc="0" normalizeH="0" baseline="0" noProof="0">
              <a:ln>
                <a:noFill/>
              </a:ln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13161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B043A-7F20-3A17-DE83-888559105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BCC82D8-C39F-3E39-A8DB-9D7D7E583220}"/>
              </a:ext>
            </a:extLst>
          </p:cNvPr>
          <p:cNvSpPr/>
          <p:nvPr/>
        </p:nvSpPr>
        <p:spPr>
          <a:xfrm>
            <a:off x="0" y="6288"/>
            <a:ext cx="12192000" cy="68727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02584B1-FA1C-3397-F790-1842898F9191}"/>
              </a:ext>
            </a:extLst>
          </p:cNvPr>
          <p:cNvSpPr txBox="1">
            <a:spLocks/>
          </p:cNvSpPr>
          <p:nvPr/>
        </p:nvSpPr>
        <p:spPr>
          <a:xfrm>
            <a:off x="11257925" y="6521725"/>
            <a:ext cx="2628900" cy="1538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PAGE</a:t>
            </a:r>
            <a:r>
              <a:rPr lang="en-US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17</a:t>
            </a:r>
          </a:p>
        </p:txBody>
      </p:sp>
      <p:sp>
        <p:nvSpPr>
          <p:cNvPr id="7" name="Title 10">
            <a:extLst>
              <a:ext uri="{FF2B5EF4-FFF2-40B4-BE49-F238E27FC236}">
                <a16:creationId xmlns:a16="http://schemas.microsoft.com/office/drawing/2014/main" id="{72AD1C81-6CF3-798B-08CC-794955B12F62}"/>
              </a:ext>
            </a:extLst>
          </p:cNvPr>
          <p:cNvSpPr txBox="1">
            <a:spLocks/>
          </p:cNvSpPr>
          <p:nvPr/>
        </p:nvSpPr>
        <p:spPr>
          <a:xfrm>
            <a:off x="812381" y="0"/>
            <a:ext cx="10907670" cy="64422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5.</a:t>
            </a:r>
            <a:r>
              <a:rPr lang="en-US" sz="40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Time-travel debugging</a:t>
            </a:r>
            <a:endParaRPr lang="en-US" sz="3200" b="1">
              <a:solidFill>
                <a:srgbClr val="CD1D1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Picture 4" descr="Tải mẫu logo trường đại học Bách Khoa Đà Nẵng (DUT) file ...">
            <a:extLst>
              <a:ext uri="{FF2B5EF4-FFF2-40B4-BE49-F238E27FC236}">
                <a16:creationId xmlns:a16="http://schemas.microsoft.com/office/drawing/2014/main" id="{BE143DC3-3547-22F2-C005-86AF6672F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51" y="136311"/>
            <a:ext cx="464878" cy="46487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E58AB5E-C344-0175-D0FC-3FC3B68B3C2C}"/>
              </a:ext>
            </a:extLst>
          </p:cNvPr>
          <p:cNvSpPr txBox="1"/>
          <p:nvPr/>
        </p:nvSpPr>
        <p:spPr>
          <a:xfrm>
            <a:off x="7016917" y="839400"/>
            <a:ext cx="5175081" cy="3132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Redux cho phép ghi lại toàn bộ lịch sử các state và action.</a:t>
            </a:r>
          </a:p>
          <a:p>
            <a:pPr>
              <a:lnSpc>
                <a:spcPct val="125000"/>
              </a:lnSpc>
            </a:pPr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• Nhờ đó, ta có thể:</a:t>
            </a:r>
          </a:p>
          <a:p>
            <a:pPr>
              <a:lnSpc>
                <a:spcPct val="125000"/>
              </a:lnSpc>
            </a:pPr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+ Tua lại, tua tới (Undo/Redo xử lý trong reducers)</a:t>
            </a:r>
          </a:p>
          <a:p>
            <a:pPr>
              <a:lnSpc>
                <a:spcPct val="125000"/>
              </a:lnSpc>
            </a:pPr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+ Đưa danh sách sản phẩm vào history</a:t>
            </a:r>
          </a:p>
          <a:p>
            <a:pPr>
              <a:lnSpc>
                <a:spcPct val="125000"/>
              </a:lnSpc>
            </a:pPr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+ Theo dõi toàn bộ chuỗi thay đổi state (history và currentIndex).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915331-9B1A-D6CF-2A14-2E513DD650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3751" y="907640"/>
            <a:ext cx="2972215" cy="16671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162209-14B9-765A-D230-5BD77E453C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3751" y="4898580"/>
            <a:ext cx="6792273" cy="14765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4B23CB6-4A7B-77C2-3521-5423D018A7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3095" y="2718945"/>
            <a:ext cx="6801799" cy="2114845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E3D4492-9181-2BA3-ECAF-6B19EEC3FCDD}"/>
              </a:ext>
            </a:extLst>
          </p:cNvPr>
          <p:cNvCxnSpPr>
            <a:cxnSpLocks/>
          </p:cNvCxnSpPr>
          <p:nvPr/>
        </p:nvCxnSpPr>
        <p:spPr>
          <a:xfrm>
            <a:off x="6963466" y="730216"/>
            <a:ext cx="0" cy="5791509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BE2ED56-2451-A430-6F5A-34B168D9184A}"/>
              </a:ext>
            </a:extLst>
          </p:cNvPr>
          <p:cNvCxnSpPr>
            <a:cxnSpLocks/>
          </p:cNvCxnSpPr>
          <p:nvPr/>
        </p:nvCxnSpPr>
        <p:spPr>
          <a:xfrm>
            <a:off x="173751" y="2650705"/>
            <a:ext cx="663648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862776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28A64-6EF8-2D35-815C-7D180D283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815D177-3D62-CCA4-321D-C19FDE028E57}"/>
              </a:ext>
            </a:extLst>
          </p:cNvPr>
          <p:cNvSpPr/>
          <p:nvPr/>
        </p:nvSpPr>
        <p:spPr>
          <a:xfrm>
            <a:off x="0" y="6288"/>
            <a:ext cx="12192000" cy="68727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3BF7084-00B4-09C5-D4A2-811BA5478E08}"/>
              </a:ext>
            </a:extLst>
          </p:cNvPr>
          <p:cNvSpPr txBox="1">
            <a:spLocks/>
          </p:cNvSpPr>
          <p:nvPr/>
        </p:nvSpPr>
        <p:spPr>
          <a:xfrm>
            <a:off x="11257925" y="6521725"/>
            <a:ext cx="2628900" cy="1538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PAGE</a:t>
            </a:r>
            <a:r>
              <a:rPr lang="en-US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17</a:t>
            </a:r>
          </a:p>
        </p:txBody>
      </p:sp>
      <p:sp>
        <p:nvSpPr>
          <p:cNvPr id="7" name="Title 10">
            <a:extLst>
              <a:ext uri="{FF2B5EF4-FFF2-40B4-BE49-F238E27FC236}">
                <a16:creationId xmlns:a16="http://schemas.microsoft.com/office/drawing/2014/main" id="{A5705232-F229-5C4E-C269-8DC04E942D18}"/>
              </a:ext>
            </a:extLst>
          </p:cNvPr>
          <p:cNvSpPr txBox="1">
            <a:spLocks/>
          </p:cNvSpPr>
          <p:nvPr/>
        </p:nvSpPr>
        <p:spPr>
          <a:xfrm>
            <a:off x="812381" y="0"/>
            <a:ext cx="10907670" cy="64422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5.</a:t>
            </a:r>
            <a:r>
              <a:rPr lang="en-US" sz="40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Time-travel debugging</a:t>
            </a:r>
            <a:endParaRPr lang="en-US" sz="3200" b="1">
              <a:solidFill>
                <a:srgbClr val="CD1D1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Picture 4" descr="Tải mẫu logo trường đại học Bách Khoa Đà Nẵng (DUT) file ...">
            <a:extLst>
              <a:ext uri="{FF2B5EF4-FFF2-40B4-BE49-F238E27FC236}">
                <a16:creationId xmlns:a16="http://schemas.microsoft.com/office/drawing/2014/main" id="{FDE03053-0C13-859D-0FC0-BB233AB86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51" y="136311"/>
            <a:ext cx="464878" cy="46487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75090C-446A-6731-3030-D8AF877775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3751" y="907640"/>
            <a:ext cx="2972215" cy="16671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3D3B05-092F-C6B4-5769-7C8F19193D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3751" y="4898580"/>
            <a:ext cx="6792273" cy="14765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0A81F92-305E-228E-2DA2-F50D3D46B6A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3095" y="2718945"/>
            <a:ext cx="6801799" cy="2114845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FF6EE9D-ABE6-35D1-1612-01A9DA6F58DD}"/>
              </a:ext>
            </a:extLst>
          </p:cNvPr>
          <p:cNvCxnSpPr>
            <a:cxnSpLocks/>
          </p:cNvCxnSpPr>
          <p:nvPr/>
        </p:nvCxnSpPr>
        <p:spPr>
          <a:xfrm>
            <a:off x="6963466" y="730216"/>
            <a:ext cx="0" cy="5791509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5858F74-1124-02DF-337B-70B996268ADD}"/>
              </a:ext>
            </a:extLst>
          </p:cNvPr>
          <p:cNvCxnSpPr>
            <a:cxnSpLocks/>
          </p:cNvCxnSpPr>
          <p:nvPr/>
        </p:nvCxnSpPr>
        <p:spPr>
          <a:xfrm>
            <a:off x="173751" y="2650705"/>
            <a:ext cx="663648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" name="Picture 1" descr="A screenshot of a phone&#10;&#10;AI-generated content may be incorrect.">
            <a:extLst>
              <a:ext uri="{FF2B5EF4-FFF2-40B4-BE49-F238E27FC236}">
                <a16:creationId xmlns:a16="http://schemas.microsoft.com/office/drawing/2014/main" id="{5AC46CA3-859A-2B90-9080-881D3826430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6700" y="872072"/>
            <a:ext cx="4916090" cy="4395962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5D34C7-B221-533C-F5DA-21066C96583B}"/>
              </a:ext>
            </a:extLst>
          </p:cNvPr>
          <p:cNvSpPr txBox="1"/>
          <p:nvPr/>
        </p:nvSpPr>
        <p:spPr>
          <a:xfrm>
            <a:off x="7315200" y="3625970"/>
            <a:ext cx="4503760" cy="6321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933826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23CDC-8686-D0C4-2321-95675E580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710502E-FD53-5C40-A000-F8EE98817888}"/>
              </a:ext>
            </a:extLst>
          </p:cNvPr>
          <p:cNvSpPr/>
          <p:nvPr/>
        </p:nvSpPr>
        <p:spPr>
          <a:xfrm>
            <a:off x="0" y="6288"/>
            <a:ext cx="12192000" cy="68727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4008082-7DD2-FF4F-4CB5-63B325111A03}"/>
              </a:ext>
            </a:extLst>
          </p:cNvPr>
          <p:cNvSpPr txBox="1">
            <a:spLocks/>
          </p:cNvSpPr>
          <p:nvPr/>
        </p:nvSpPr>
        <p:spPr>
          <a:xfrm>
            <a:off x="11257925" y="6521725"/>
            <a:ext cx="2628900" cy="1538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PAGE</a:t>
            </a:r>
            <a:r>
              <a:rPr lang="en-US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17</a:t>
            </a:r>
          </a:p>
        </p:txBody>
      </p:sp>
      <p:sp>
        <p:nvSpPr>
          <p:cNvPr id="7" name="Title 10">
            <a:extLst>
              <a:ext uri="{FF2B5EF4-FFF2-40B4-BE49-F238E27FC236}">
                <a16:creationId xmlns:a16="http://schemas.microsoft.com/office/drawing/2014/main" id="{62382419-E7D4-E78B-9FA1-B632149EB85C}"/>
              </a:ext>
            </a:extLst>
          </p:cNvPr>
          <p:cNvSpPr txBox="1">
            <a:spLocks/>
          </p:cNvSpPr>
          <p:nvPr/>
        </p:nvSpPr>
        <p:spPr>
          <a:xfrm>
            <a:off x="812381" y="0"/>
            <a:ext cx="10907670" cy="64422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5.</a:t>
            </a:r>
            <a:r>
              <a:rPr lang="en-US" sz="40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200" b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Time-travel debugging</a:t>
            </a:r>
            <a:endParaRPr lang="en-US" sz="3200" b="1">
              <a:solidFill>
                <a:srgbClr val="CD1D1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9" name="Picture 4" descr="Tải mẫu logo trường đại học Bách Khoa Đà Nẵng (DUT) file ...">
            <a:extLst>
              <a:ext uri="{FF2B5EF4-FFF2-40B4-BE49-F238E27FC236}">
                <a16:creationId xmlns:a16="http://schemas.microsoft.com/office/drawing/2014/main" id="{CB626704-20E5-61D7-B52D-6AB2F702B0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51" y="136311"/>
            <a:ext cx="464878" cy="46487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72B209-717A-0CD6-6BA0-D1B7DDB055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3751" y="907640"/>
            <a:ext cx="2972215" cy="16671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DD6DB87-96E0-52B9-C51B-9A4D525E57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3751" y="4898580"/>
            <a:ext cx="6792273" cy="14765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5AD8DCA-D2BE-51D5-807E-F71C7C23C57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3095" y="2718945"/>
            <a:ext cx="6801799" cy="2114845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3B623A4-10AE-837F-5856-E2A774ACF6C9}"/>
              </a:ext>
            </a:extLst>
          </p:cNvPr>
          <p:cNvCxnSpPr>
            <a:cxnSpLocks/>
          </p:cNvCxnSpPr>
          <p:nvPr/>
        </p:nvCxnSpPr>
        <p:spPr>
          <a:xfrm>
            <a:off x="6963466" y="730216"/>
            <a:ext cx="0" cy="5791509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A8F357B-884D-FE0E-12ED-12494C12127E}"/>
              </a:ext>
            </a:extLst>
          </p:cNvPr>
          <p:cNvCxnSpPr>
            <a:cxnSpLocks/>
          </p:cNvCxnSpPr>
          <p:nvPr/>
        </p:nvCxnSpPr>
        <p:spPr>
          <a:xfrm>
            <a:off x="173751" y="2650705"/>
            <a:ext cx="663648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2F0368B2-8B55-ABE5-902F-116FF6FA59A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3183" y="910899"/>
            <a:ext cx="4714643" cy="5053173"/>
          </a:xfrm>
          <a:prstGeom prst="rect">
            <a:avLst/>
          </a:prstGeom>
          <a:ln w="3175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AE4828-9FE7-CC22-C03B-064B88F8C2E6}"/>
              </a:ext>
            </a:extLst>
          </p:cNvPr>
          <p:cNvSpPr txBox="1"/>
          <p:nvPr/>
        </p:nvSpPr>
        <p:spPr>
          <a:xfrm>
            <a:off x="7139774" y="5117587"/>
            <a:ext cx="4698051" cy="8295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407622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CCB86-DF51-2AB1-0791-611476086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47E42B2-761C-766D-84B3-4ADC85F87B5F}"/>
              </a:ext>
            </a:extLst>
          </p:cNvPr>
          <p:cNvSpPr/>
          <p:nvPr/>
        </p:nvSpPr>
        <p:spPr>
          <a:xfrm>
            <a:off x="-1" y="0"/>
            <a:ext cx="12192001" cy="68727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781385F-A8C8-C39E-7290-D8E7EEFB17FE}"/>
              </a:ext>
            </a:extLst>
          </p:cNvPr>
          <p:cNvSpPr txBox="1">
            <a:spLocks/>
          </p:cNvSpPr>
          <p:nvPr/>
        </p:nvSpPr>
        <p:spPr>
          <a:xfrm>
            <a:off x="11204200" y="6550755"/>
            <a:ext cx="2628900" cy="1538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PAGE </a:t>
            </a:r>
            <a:r>
              <a:rPr lang="en-US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52</a:t>
            </a:r>
          </a:p>
        </p:txBody>
      </p:sp>
      <p:pic>
        <p:nvPicPr>
          <p:cNvPr id="9" name="Picture 4" descr="Tải mẫu logo trường đại học Bách Khoa Đà Nẵng (DUT) file ...">
            <a:extLst>
              <a:ext uri="{FF2B5EF4-FFF2-40B4-BE49-F238E27FC236}">
                <a16:creationId xmlns:a16="http://schemas.microsoft.com/office/drawing/2014/main" id="{AE40DCC3-B7AA-45C5-FEF0-609B16BD47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51" y="136311"/>
            <a:ext cx="464878" cy="46487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F76B34E-5E74-E035-9E0E-D5E8127D619B}"/>
              </a:ext>
            </a:extLst>
          </p:cNvPr>
          <p:cNvSpPr txBox="1"/>
          <p:nvPr/>
        </p:nvSpPr>
        <p:spPr>
          <a:xfrm>
            <a:off x="638629" y="963186"/>
            <a:ext cx="97175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Tài liệu tham khảo:</a:t>
            </a:r>
          </a:p>
          <a:p>
            <a:endParaRPr lang="en-US" sz="2000" b="1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2906AD-F0FC-C073-DA19-ECD7F16B2997}"/>
              </a:ext>
            </a:extLst>
          </p:cNvPr>
          <p:cNvSpPr txBox="1"/>
          <p:nvPr/>
        </p:nvSpPr>
        <p:spPr>
          <a:xfrm>
            <a:off x="2309883" y="1679125"/>
            <a:ext cx="904444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https://redux.js.org/usage/implementing-undo-history</a:t>
            </a:r>
            <a:endParaRPr lang="en-US" sz="200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hlinkClick r:id="rId5"/>
              </a:rPr>
              <a:t>https://redux.js.org/tutorials/essentials/part-1-overview-concepts</a:t>
            </a:r>
            <a:endParaRPr lang="en-US" sz="20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hlinkClick r:id="rId6"/>
              </a:rPr>
              <a:t>https://redux.js.org/understanding/history-and-design/middleware</a:t>
            </a:r>
            <a:endParaRPr lang="en-US" sz="20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hlinkClick r:id="rId7"/>
              </a:rPr>
              <a:t>https://pub.dev/documentation/redux/latest/</a:t>
            </a:r>
            <a:endParaRPr lang="en-US" sz="200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  <a:hlinkClick r:id="rId8"/>
              </a:rPr>
              <a:t>https://blog.logrocket.com/flutter-redux-complete-tutorial-with-examples</a:t>
            </a:r>
            <a:endParaRPr lang="en-US" sz="2000">
              <a:solidFill>
                <a:srgbClr val="0070C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TS. Nguyễn Duy Nhật Viễn – Slide bài giảng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9BD03F-08FD-D62E-2D5D-C8FFEC231BB1}"/>
              </a:ext>
            </a:extLst>
          </p:cNvPr>
          <p:cNvSpPr txBox="1"/>
          <p:nvPr/>
        </p:nvSpPr>
        <p:spPr>
          <a:xfrm>
            <a:off x="1794085" y="1679125"/>
            <a:ext cx="65850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[1]</a:t>
            </a:r>
          </a:p>
          <a:p>
            <a:r>
              <a:rPr lang="en-US" sz="20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[2]</a:t>
            </a:r>
          </a:p>
          <a:p>
            <a:r>
              <a:rPr lang="en-US" sz="20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[3]</a:t>
            </a:r>
          </a:p>
          <a:p>
            <a:r>
              <a:rPr lang="en-US" sz="20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[4]</a:t>
            </a:r>
          </a:p>
          <a:p>
            <a:r>
              <a:rPr lang="en-US" sz="20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[5]</a:t>
            </a:r>
          </a:p>
          <a:p>
            <a:r>
              <a:rPr lang="en-US" sz="2000">
                <a:solidFill>
                  <a:srgbClr val="0070C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[6]</a:t>
            </a:r>
          </a:p>
        </p:txBody>
      </p:sp>
    </p:spTree>
    <p:extLst>
      <p:ext uri="{BB962C8B-B14F-4D97-AF65-F5344CB8AC3E}">
        <p14:creationId xmlns:p14="http://schemas.microsoft.com/office/powerpoint/2010/main" val="1882684021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DE610-D633-74E4-4AEA-E94B4A8B0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BF58750-74C9-84DF-155A-BF4F84F9C2C3}"/>
              </a:ext>
            </a:extLst>
          </p:cNvPr>
          <p:cNvSpPr/>
          <p:nvPr/>
        </p:nvSpPr>
        <p:spPr>
          <a:xfrm>
            <a:off x="-1" y="0"/>
            <a:ext cx="12192001" cy="68727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E8DB5D1-5CB0-F8BC-E165-FCF564AD966D}"/>
              </a:ext>
            </a:extLst>
          </p:cNvPr>
          <p:cNvSpPr txBox="1">
            <a:spLocks/>
          </p:cNvSpPr>
          <p:nvPr/>
        </p:nvSpPr>
        <p:spPr>
          <a:xfrm>
            <a:off x="11245144" y="6550755"/>
            <a:ext cx="2628900" cy="1538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PAGE </a:t>
            </a:r>
            <a:r>
              <a:rPr lang="en-US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53</a:t>
            </a:r>
          </a:p>
        </p:txBody>
      </p:sp>
      <p:pic>
        <p:nvPicPr>
          <p:cNvPr id="9" name="Picture 4" descr="Tải mẫu logo trường đại học Bách Khoa Đà Nẵng (DUT) file ...">
            <a:extLst>
              <a:ext uri="{FF2B5EF4-FFF2-40B4-BE49-F238E27FC236}">
                <a16:creationId xmlns:a16="http://schemas.microsoft.com/office/drawing/2014/main" id="{41963719-82F8-7F49-02A1-6634EC7A4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51" y="136311"/>
            <a:ext cx="464878" cy="46487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254160-DB8D-3015-B398-619A3F4BD72C}"/>
              </a:ext>
            </a:extLst>
          </p:cNvPr>
          <p:cNvSpPr txBox="1"/>
          <p:nvPr/>
        </p:nvSpPr>
        <p:spPr>
          <a:xfrm>
            <a:off x="638629" y="963186"/>
            <a:ext cx="97175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Phân công công việc:</a:t>
            </a:r>
          </a:p>
          <a:p>
            <a:endParaRPr lang="en-US" sz="2000" b="1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C4225C7-4A85-B520-61CF-67D0AD3DFE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018615"/>
              </p:ext>
            </p:extLst>
          </p:nvPr>
        </p:nvGraphicFramePr>
        <p:xfrm>
          <a:off x="910158" y="1824960"/>
          <a:ext cx="10353480" cy="1798320"/>
        </p:xfrm>
        <a:graphic>
          <a:graphicData uri="http://schemas.openxmlformats.org/drawingml/2006/table">
            <a:tbl>
              <a:tblPr firstRow="1" bandRow="1"/>
              <a:tblGrid>
                <a:gridCol w="2692853">
                  <a:extLst>
                    <a:ext uri="{9D8B030D-6E8A-4147-A177-3AD203B41FA5}">
                      <a16:colId xmlns:a16="http://schemas.microsoft.com/office/drawing/2014/main" val="4088609260"/>
                    </a:ext>
                  </a:extLst>
                </a:gridCol>
                <a:gridCol w="4926842">
                  <a:extLst>
                    <a:ext uri="{9D8B030D-6E8A-4147-A177-3AD203B41FA5}">
                      <a16:colId xmlns:a16="http://schemas.microsoft.com/office/drawing/2014/main" val="712046500"/>
                    </a:ext>
                  </a:extLst>
                </a:gridCol>
                <a:gridCol w="2733785">
                  <a:extLst>
                    <a:ext uri="{9D8B030D-6E8A-4147-A177-3AD203B41FA5}">
                      <a16:colId xmlns:a16="http://schemas.microsoft.com/office/drawing/2014/main" val="4006154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Họ và tên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Nhiệm vụ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Khối lượng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4929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Lưu Văn Thành Huy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Tìm hiểu về Middleware và side effects, Time-travel debugging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798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Lê Thanh Bản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Tìm hiểu về Store, actions, reducers, Storebuilder và Storeconnector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chemeClr val="bg1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32308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4682871"/>
      </p:ext>
    </p:ext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1AEB0-05FC-1B56-4FE3-252539D8E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19B054D-54D9-28BF-1A2C-21C8E3A05956}"/>
              </a:ext>
            </a:extLst>
          </p:cNvPr>
          <p:cNvSpPr/>
          <p:nvPr/>
        </p:nvSpPr>
        <p:spPr>
          <a:xfrm>
            <a:off x="-1" y="0"/>
            <a:ext cx="12192001" cy="687274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08E5D6-CA6A-B1F5-8E9F-592AA1981EE8}"/>
              </a:ext>
            </a:extLst>
          </p:cNvPr>
          <p:cNvSpPr txBox="1"/>
          <p:nvPr/>
        </p:nvSpPr>
        <p:spPr>
          <a:xfrm>
            <a:off x="3004456" y="2638753"/>
            <a:ext cx="616857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Cảm ơn thầy cùng các bạn đã lắng nghe 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4BACDC-915A-6754-422A-C06F3787D515}"/>
              </a:ext>
            </a:extLst>
          </p:cNvPr>
          <p:cNvSpPr/>
          <p:nvPr/>
        </p:nvSpPr>
        <p:spPr>
          <a:xfrm>
            <a:off x="3130062" y="2321169"/>
            <a:ext cx="6042966" cy="2215662"/>
          </a:xfrm>
          <a:prstGeom prst="rect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97131BC-D6D6-0707-1B11-F4452FCA7E41}"/>
              </a:ext>
            </a:extLst>
          </p:cNvPr>
          <p:cNvSpPr txBox="1">
            <a:spLocks/>
          </p:cNvSpPr>
          <p:nvPr/>
        </p:nvSpPr>
        <p:spPr>
          <a:xfrm>
            <a:off x="11204200" y="6550755"/>
            <a:ext cx="2628900" cy="15388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vi-VN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PAGE</a:t>
            </a:r>
            <a:r>
              <a:rPr lang="en-US" sz="1600" b="1">
                <a:solidFill>
                  <a:schemeClr val="bg1">
                    <a:alpha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54</a:t>
            </a:r>
          </a:p>
        </p:txBody>
      </p:sp>
    </p:spTree>
    <p:extLst>
      <p:ext uri="{BB962C8B-B14F-4D97-AF65-F5344CB8AC3E}">
        <p14:creationId xmlns:p14="http://schemas.microsoft.com/office/powerpoint/2010/main" val="139908121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BC42CFF30DAD49AD9447EB755AC427" ma:contentTypeVersion="5" ma:contentTypeDescription="Create a new document." ma:contentTypeScope="" ma:versionID="21b79db815ffa5220659b976ec10bf65">
  <xsd:schema xmlns:xsd="http://www.w3.org/2001/XMLSchema" xmlns:xs="http://www.w3.org/2001/XMLSchema" xmlns:p="http://schemas.microsoft.com/office/2006/metadata/properties" xmlns:ns3="87ded781-2f94-4d69-8848-7c5557f2fdca" targetNamespace="http://schemas.microsoft.com/office/2006/metadata/properties" ma:root="true" ma:fieldsID="3de7ec367e1d1855adcfb4822c55796b" ns3:_="">
    <xsd:import namespace="87ded781-2f94-4d69-8848-7c5557f2fdc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ded781-2f94-4d69-8848-7c5557f2fd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7ded781-2f94-4d69-8848-7c5557f2fdca" xsi:nil="true"/>
  </documentManagement>
</p:properties>
</file>

<file path=customXml/itemProps1.xml><?xml version="1.0" encoding="utf-8"?>
<ds:datastoreItem xmlns:ds="http://schemas.openxmlformats.org/officeDocument/2006/customXml" ds:itemID="{77872E24-E975-488F-ABD8-BF1D3ECDDD3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659FB29-8DFB-4971-B0DF-CD856EA68F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ded781-2f94-4d69-8848-7c5557f2fdc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6C9A345-86F4-4337-9954-491FDB3307E7}">
  <ds:schemaRefs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infopath/2007/PartnerControls"/>
    <ds:schemaRef ds:uri="http://purl.org/dc/terms/"/>
    <ds:schemaRef ds:uri="87ded781-2f94-4d69-8848-7c5557f2fdca"/>
    <ds:schemaRef ds:uri="http://schemas.microsoft.com/office/2006/metadata/propertie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4159</TotalTime>
  <Words>3136</Words>
  <Application>Microsoft Office PowerPoint</Application>
  <PresentationFormat>Widescreen</PresentationFormat>
  <Paragraphs>376</Paragraphs>
  <Slides>33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Aptos</vt:lpstr>
      <vt:lpstr>Aptos Display</vt:lpstr>
      <vt:lpstr>Arial</vt:lpstr>
      <vt:lpstr>Calibri</vt:lpstr>
      <vt:lpstr>Cambria</vt:lpstr>
      <vt:lpstr>Gill Sans MT</vt:lpstr>
      <vt:lpstr>Walbaum Display</vt:lpstr>
      <vt:lpstr>Wingdings</vt:lpstr>
      <vt:lpstr>Office Theme</vt:lpstr>
      <vt:lpstr>3DFloatVTI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Lê Thanh Căn</dc:creator>
  <cp:lastModifiedBy>Lê Thanh Bản</cp:lastModifiedBy>
  <cp:revision>69</cp:revision>
  <dcterms:created xsi:type="dcterms:W3CDTF">2025-10-17T10:17:54Z</dcterms:created>
  <dcterms:modified xsi:type="dcterms:W3CDTF">2025-11-10T10:26:34Z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0x01010043BC42CFF30DAD49AD9447EB755AC427</vt:lpwstr>
  </property>
</Properties>
</file>